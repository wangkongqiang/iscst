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74" r:id="rId2"/>
    <p:sldId id="290" r:id="rId3"/>
    <p:sldId id="291" r:id="rId4"/>
    <p:sldId id="257" r:id="rId5"/>
    <p:sldId id="308" r:id="rId6"/>
    <p:sldId id="261" r:id="rId7"/>
    <p:sldId id="292" r:id="rId8"/>
    <p:sldId id="258" r:id="rId9"/>
    <p:sldId id="301" r:id="rId10"/>
    <p:sldId id="287" r:id="rId11"/>
    <p:sldId id="275" r:id="rId12"/>
    <p:sldId id="309" r:id="rId13"/>
    <p:sldId id="302" r:id="rId14"/>
    <p:sldId id="288" r:id="rId15"/>
    <p:sldId id="305" r:id="rId16"/>
    <p:sldId id="304" r:id="rId17"/>
    <p:sldId id="306" r:id="rId18"/>
    <p:sldId id="310" r:id="rId19"/>
    <p:sldId id="271" r:id="rId20"/>
    <p:sldId id="307"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5718" autoAdjust="0"/>
  </p:normalViewPr>
  <p:slideViewPr>
    <p:cSldViewPr snapToGrid="0">
      <p:cViewPr varScale="1">
        <p:scale>
          <a:sx n="85" d="100"/>
          <a:sy n="85" d="100"/>
        </p:scale>
        <p:origin x="144" y="39"/>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9B6271-3805-49FF-BECC-2EB89D3B8902}" type="datetimeFigureOut">
              <a:rPr lang="zh-CN" altLang="en-US" smtClean="0"/>
              <a:t>2026/6/8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0C8A9D-54FB-4250-9DB8-CBF8E8FED5C3}" type="slidenum">
              <a:rPr lang="zh-CN" altLang="en-US" smtClean="0"/>
              <a:t>‹#›</a:t>
            </a:fld>
            <a:endParaRPr lang="zh-CN" altLang="en-US"/>
          </a:p>
        </p:txBody>
      </p:sp>
    </p:spTree>
    <p:extLst>
      <p:ext uri="{BB962C8B-B14F-4D97-AF65-F5344CB8AC3E}">
        <p14:creationId xmlns:p14="http://schemas.microsoft.com/office/powerpoint/2010/main" val="1343001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70C8A9D-54FB-4250-9DB8-CBF8E8FED5C3}" type="slidenum">
              <a:rPr lang="zh-CN" altLang="en-US" smtClean="0"/>
              <a:t>1</a:t>
            </a:fld>
            <a:endParaRPr lang="zh-CN" altLang="en-US"/>
          </a:p>
        </p:txBody>
      </p:sp>
    </p:spTree>
    <p:extLst>
      <p:ext uri="{BB962C8B-B14F-4D97-AF65-F5344CB8AC3E}">
        <p14:creationId xmlns:p14="http://schemas.microsoft.com/office/powerpoint/2010/main" val="1720090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1AC446-4A14-77E9-4357-982939C846E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B5BAF29-9CD0-14B8-C232-FE90F05337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92F29A7-8138-5DC2-BFF8-0CCDF308DBBB}"/>
              </a:ext>
            </a:extLst>
          </p:cNvPr>
          <p:cNvSpPr>
            <a:spLocks noGrp="1"/>
          </p:cNvSpPr>
          <p:nvPr>
            <p:ph type="dt" sz="half" idx="10"/>
          </p:nvPr>
        </p:nvSpPr>
        <p:spPr/>
        <p:txBody>
          <a:bodyPr/>
          <a:lstStyle/>
          <a:p>
            <a:fld id="{A0FF5F03-E77A-4356-9949-861A5D84F531}" type="datetimeFigureOut">
              <a:rPr lang="zh-CN" altLang="en-US" smtClean="0"/>
              <a:t>2026/6/8</a:t>
            </a:fld>
            <a:endParaRPr lang="zh-CN" altLang="en-US"/>
          </a:p>
        </p:txBody>
      </p:sp>
      <p:sp>
        <p:nvSpPr>
          <p:cNvPr id="5" name="页脚占位符 4">
            <a:extLst>
              <a:ext uri="{FF2B5EF4-FFF2-40B4-BE49-F238E27FC236}">
                <a16:creationId xmlns:a16="http://schemas.microsoft.com/office/drawing/2014/main" id="{77213374-6282-E67E-5DC8-4F951621796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D2D5F1-24E0-64A2-BC56-A621E6B9481F}"/>
              </a:ext>
            </a:extLst>
          </p:cNvPr>
          <p:cNvSpPr>
            <a:spLocks noGrp="1"/>
          </p:cNvSpPr>
          <p:nvPr>
            <p:ph type="sldNum" sz="quarter" idx="12"/>
          </p:nvPr>
        </p:nvSpPr>
        <p:spPr/>
        <p:txBody>
          <a:bodyPr/>
          <a:lstStyle/>
          <a:p>
            <a:fld id="{03AF476D-6C8E-4DFB-9248-1052B74512B0}" type="slidenum">
              <a:rPr lang="zh-CN" altLang="en-US" smtClean="0"/>
              <a:t>‹#›</a:t>
            </a:fld>
            <a:endParaRPr lang="zh-CN" altLang="en-US"/>
          </a:p>
        </p:txBody>
      </p:sp>
    </p:spTree>
    <p:extLst>
      <p:ext uri="{BB962C8B-B14F-4D97-AF65-F5344CB8AC3E}">
        <p14:creationId xmlns:p14="http://schemas.microsoft.com/office/powerpoint/2010/main" val="2553383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624631-8802-7766-21F6-89499B86D1A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7C0D05C-8391-295A-52A0-9BF73CBA2CA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DAFDF7D-980F-5DBA-3412-1DFD5BEACAC9}"/>
              </a:ext>
            </a:extLst>
          </p:cNvPr>
          <p:cNvSpPr>
            <a:spLocks noGrp="1"/>
          </p:cNvSpPr>
          <p:nvPr>
            <p:ph type="dt" sz="half" idx="10"/>
          </p:nvPr>
        </p:nvSpPr>
        <p:spPr/>
        <p:txBody>
          <a:bodyPr/>
          <a:lstStyle/>
          <a:p>
            <a:fld id="{A0FF5F03-E77A-4356-9949-861A5D84F531}" type="datetimeFigureOut">
              <a:rPr lang="zh-CN" altLang="en-US" smtClean="0"/>
              <a:t>2026/6/8</a:t>
            </a:fld>
            <a:endParaRPr lang="zh-CN" altLang="en-US"/>
          </a:p>
        </p:txBody>
      </p:sp>
      <p:sp>
        <p:nvSpPr>
          <p:cNvPr id="5" name="页脚占位符 4">
            <a:extLst>
              <a:ext uri="{FF2B5EF4-FFF2-40B4-BE49-F238E27FC236}">
                <a16:creationId xmlns:a16="http://schemas.microsoft.com/office/drawing/2014/main" id="{36D234DD-B8BD-FAF7-052C-D9863A2B4DB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2E9FF63-29E7-8C6E-3E61-92B24910FD76}"/>
              </a:ext>
            </a:extLst>
          </p:cNvPr>
          <p:cNvSpPr>
            <a:spLocks noGrp="1"/>
          </p:cNvSpPr>
          <p:nvPr>
            <p:ph type="sldNum" sz="quarter" idx="12"/>
          </p:nvPr>
        </p:nvSpPr>
        <p:spPr/>
        <p:txBody>
          <a:bodyPr/>
          <a:lstStyle/>
          <a:p>
            <a:fld id="{03AF476D-6C8E-4DFB-9248-1052B74512B0}" type="slidenum">
              <a:rPr lang="zh-CN" altLang="en-US" smtClean="0"/>
              <a:t>‹#›</a:t>
            </a:fld>
            <a:endParaRPr lang="zh-CN" altLang="en-US"/>
          </a:p>
        </p:txBody>
      </p:sp>
    </p:spTree>
    <p:extLst>
      <p:ext uri="{BB962C8B-B14F-4D97-AF65-F5344CB8AC3E}">
        <p14:creationId xmlns:p14="http://schemas.microsoft.com/office/powerpoint/2010/main" val="764241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DBAD98-162C-B2EE-10EF-2E96534F507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553319C-EE51-8E7D-FF00-D7088228A7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27FD4F9-FD0C-8055-1208-DE54CD603C79}"/>
              </a:ext>
            </a:extLst>
          </p:cNvPr>
          <p:cNvSpPr>
            <a:spLocks noGrp="1"/>
          </p:cNvSpPr>
          <p:nvPr>
            <p:ph type="dt" sz="half" idx="10"/>
          </p:nvPr>
        </p:nvSpPr>
        <p:spPr/>
        <p:txBody>
          <a:bodyPr/>
          <a:lstStyle/>
          <a:p>
            <a:fld id="{A0FF5F03-E77A-4356-9949-861A5D84F531}" type="datetimeFigureOut">
              <a:rPr lang="zh-CN" altLang="en-US" smtClean="0"/>
              <a:t>2026/6/8</a:t>
            </a:fld>
            <a:endParaRPr lang="zh-CN" altLang="en-US"/>
          </a:p>
        </p:txBody>
      </p:sp>
      <p:sp>
        <p:nvSpPr>
          <p:cNvPr id="5" name="页脚占位符 4">
            <a:extLst>
              <a:ext uri="{FF2B5EF4-FFF2-40B4-BE49-F238E27FC236}">
                <a16:creationId xmlns:a16="http://schemas.microsoft.com/office/drawing/2014/main" id="{F17CD44E-962A-2D43-1F93-1F6508220C1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087636-F2BC-37A2-B150-EFB0FD4D1B2F}"/>
              </a:ext>
            </a:extLst>
          </p:cNvPr>
          <p:cNvSpPr>
            <a:spLocks noGrp="1"/>
          </p:cNvSpPr>
          <p:nvPr>
            <p:ph type="sldNum" sz="quarter" idx="12"/>
          </p:nvPr>
        </p:nvSpPr>
        <p:spPr/>
        <p:txBody>
          <a:bodyPr/>
          <a:lstStyle/>
          <a:p>
            <a:fld id="{03AF476D-6C8E-4DFB-9248-1052B74512B0}" type="slidenum">
              <a:rPr lang="zh-CN" altLang="en-US" smtClean="0"/>
              <a:t>‹#›</a:t>
            </a:fld>
            <a:endParaRPr lang="zh-CN" altLang="en-US"/>
          </a:p>
        </p:txBody>
      </p:sp>
    </p:spTree>
    <p:extLst>
      <p:ext uri="{BB962C8B-B14F-4D97-AF65-F5344CB8AC3E}">
        <p14:creationId xmlns:p14="http://schemas.microsoft.com/office/powerpoint/2010/main" val="697500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D0FEF0-008F-FAAD-1AF7-DA7FE1647E4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72ACA14-2177-119A-8E47-689138BCA0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53F2F5-1594-8715-3591-CEF55E4CF6C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8CDA9AA-E85E-33F5-FC56-77766ADFC77B}"/>
              </a:ext>
            </a:extLst>
          </p:cNvPr>
          <p:cNvSpPr>
            <a:spLocks noGrp="1"/>
          </p:cNvSpPr>
          <p:nvPr>
            <p:ph type="dt" sz="half" idx="10"/>
          </p:nvPr>
        </p:nvSpPr>
        <p:spPr/>
        <p:txBody>
          <a:bodyPr/>
          <a:lstStyle/>
          <a:p>
            <a:fld id="{A0FF5F03-E77A-4356-9949-861A5D84F531}" type="datetimeFigureOut">
              <a:rPr lang="zh-CN" altLang="en-US" smtClean="0"/>
              <a:t>2026/6/8</a:t>
            </a:fld>
            <a:endParaRPr lang="zh-CN" altLang="en-US"/>
          </a:p>
        </p:txBody>
      </p:sp>
      <p:sp>
        <p:nvSpPr>
          <p:cNvPr id="6" name="页脚占位符 5">
            <a:extLst>
              <a:ext uri="{FF2B5EF4-FFF2-40B4-BE49-F238E27FC236}">
                <a16:creationId xmlns:a16="http://schemas.microsoft.com/office/drawing/2014/main" id="{A87E61E3-11E1-6675-1A89-9E3FA558EE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7713885-2ADD-58C8-9DED-5033EEA74783}"/>
              </a:ext>
            </a:extLst>
          </p:cNvPr>
          <p:cNvSpPr>
            <a:spLocks noGrp="1"/>
          </p:cNvSpPr>
          <p:nvPr>
            <p:ph type="sldNum" sz="quarter" idx="12"/>
          </p:nvPr>
        </p:nvSpPr>
        <p:spPr/>
        <p:txBody>
          <a:bodyPr/>
          <a:lstStyle/>
          <a:p>
            <a:fld id="{03AF476D-6C8E-4DFB-9248-1052B74512B0}" type="slidenum">
              <a:rPr lang="zh-CN" altLang="en-US" smtClean="0"/>
              <a:t>‹#›</a:t>
            </a:fld>
            <a:endParaRPr lang="zh-CN" altLang="en-US"/>
          </a:p>
        </p:txBody>
      </p:sp>
    </p:spTree>
    <p:extLst>
      <p:ext uri="{BB962C8B-B14F-4D97-AF65-F5344CB8AC3E}">
        <p14:creationId xmlns:p14="http://schemas.microsoft.com/office/powerpoint/2010/main" val="697349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F48650-C686-C9D1-773F-C14B708DB48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FBC005E-56BA-E1AF-0864-3BA047C96C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7CEC073-98ED-8BBE-040A-AA823DDF064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9375A6A-9F8F-DAAA-D1CA-25F0EE3A3E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1D6D7B6-04CB-77BC-D170-F09E5F1845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9B6BE50-5554-A2A2-0E7F-42F73D71949D}"/>
              </a:ext>
            </a:extLst>
          </p:cNvPr>
          <p:cNvSpPr>
            <a:spLocks noGrp="1"/>
          </p:cNvSpPr>
          <p:nvPr>
            <p:ph type="dt" sz="half" idx="10"/>
          </p:nvPr>
        </p:nvSpPr>
        <p:spPr/>
        <p:txBody>
          <a:bodyPr/>
          <a:lstStyle/>
          <a:p>
            <a:fld id="{A0FF5F03-E77A-4356-9949-861A5D84F531}" type="datetimeFigureOut">
              <a:rPr lang="zh-CN" altLang="en-US" smtClean="0"/>
              <a:t>2026/6/8</a:t>
            </a:fld>
            <a:endParaRPr lang="zh-CN" altLang="en-US"/>
          </a:p>
        </p:txBody>
      </p:sp>
      <p:sp>
        <p:nvSpPr>
          <p:cNvPr id="8" name="页脚占位符 7">
            <a:extLst>
              <a:ext uri="{FF2B5EF4-FFF2-40B4-BE49-F238E27FC236}">
                <a16:creationId xmlns:a16="http://schemas.microsoft.com/office/drawing/2014/main" id="{1056E6D4-2E1A-2B78-C223-446B7C5BB38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07FC0B9-2FBF-CF24-AF37-25C8EB872D28}"/>
              </a:ext>
            </a:extLst>
          </p:cNvPr>
          <p:cNvSpPr>
            <a:spLocks noGrp="1"/>
          </p:cNvSpPr>
          <p:nvPr>
            <p:ph type="sldNum" sz="quarter" idx="12"/>
          </p:nvPr>
        </p:nvSpPr>
        <p:spPr/>
        <p:txBody>
          <a:bodyPr/>
          <a:lstStyle/>
          <a:p>
            <a:fld id="{03AF476D-6C8E-4DFB-9248-1052B74512B0}" type="slidenum">
              <a:rPr lang="zh-CN" altLang="en-US" smtClean="0"/>
              <a:t>‹#›</a:t>
            </a:fld>
            <a:endParaRPr lang="zh-CN" altLang="en-US"/>
          </a:p>
        </p:txBody>
      </p:sp>
    </p:spTree>
    <p:extLst>
      <p:ext uri="{BB962C8B-B14F-4D97-AF65-F5344CB8AC3E}">
        <p14:creationId xmlns:p14="http://schemas.microsoft.com/office/powerpoint/2010/main" val="2420374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4954FC-F043-E9F1-6F47-EE34A1B4538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A1023F2-2D76-5367-2666-4460F0B9F832}"/>
              </a:ext>
            </a:extLst>
          </p:cNvPr>
          <p:cNvSpPr>
            <a:spLocks noGrp="1"/>
          </p:cNvSpPr>
          <p:nvPr>
            <p:ph type="dt" sz="half" idx="10"/>
          </p:nvPr>
        </p:nvSpPr>
        <p:spPr/>
        <p:txBody>
          <a:bodyPr/>
          <a:lstStyle/>
          <a:p>
            <a:fld id="{A0FF5F03-E77A-4356-9949-861A5D84F531}" type="datetimeFigureOut">
              <a:rPr lang="zh-CN" altLang="en-US" smtClean="0"/>
              <a:t>2026/6/8</a:t>
            </a:fld>
            <a:endParaRPr lang="zh-CN" altLang="en-US"/>
          </a:p>
        </p:txBody>
      </p:sp>
      <p:sp>
        <p:nvSpPr>
          <p:cNvPr id="4" name="页脚占位符 3">
            <a:extLst>
              <a:ext uri="{FF2B5EF4-FFF2-40B4-BE49-F238E27FC236}">
                <a16:creationId xmlns:a16="http://schemas.microsoft.com/office/drawing/2014/main" id="{C25A0EDE-DE9D-3589-B912-BD4421CA233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EBCB95A-43F6-264F-C675-C9D7679B227F}"/>
              </a:ext>
            </a:extLst>
          </p:cNvPr>
          <p:cNvSpPr>
            <a:spLocks noGrp="1"/>
          </p:cNvSpPr>
          <p:nvPr>
            <p:ph type="sldNum" sz="quarter" idx="12"/>
          </p:nvPr>
        </p:nvSpPr>
        <p:spPr/>
        <p:txBody>
          <a:bodyPr/>
          <a:lstStyle/>
          <a:p>
            <a:fld id="{03AF476D-6C8E-4DFB-9248-1052B74512B0}" type="slidenum">
              <a:rPr lang="zh-CN" altLang="en-US" smtClean="0"/>
              <a:t>‹#›</a:t>
            </a:fld>
            <a:endParaRPr lang="zh-CN" altLang="en-US"/>
          </a:p>
        </p:txBody>
      </p:sp>
    </p:spTree>
    <p:extLst>
      <p:ext uri="{BB962C8B-B14F-4D97-AF65-F5344CB8AC3E}">
        <p14:creationId xmlns:p14="http://schemas.microsoft.com/office/powerpoint/2010/main" val="96651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CAAA5C5-21B7-CBC9-7E58-684341BFE2DD}"/>
              </a:ext>
            </a:extLst>
          </p:cNvPr>
          <p:cNvSpPr>
            <a:spLocks noGrp="1"/>
          </p:cNvSpPr>
          <p:nvPr>
            <p:ph type="dt" sz="half" idx="10"/>
          </p:nvPr>
        </p:nvSpPr>
        <p:spPr/>
        <p:txBody>
          <a:bodyPr/>
          <a:lstStyle/>
          <a:p>
            <a:fld id="{A0FF5F03-E77A-4356-9949-861A5D84F531}" type="datetimeFigureOut">
              <a:rPr lang="zh-CN" altLang="en-US" smtClean="0"/>
              <a:t>2026/6/8</a:t>
            </a:fld>
            <a:endParaRPr lang="zh-CN" altLang="en-US"/>
          </a:p>
        </p:txBody>
      </p:sp>
      <p:sp>
        <p:nvSpPr>
          <p:cNvPr id="3" name="页脚占位符 2">
            <a:extLst>
              <a:ext uri="{FF2B5EF4-FFF2-40B4-BE49-F238E27FC236}">
                <a16:creationId xmlns:a16="http://schemas.microsoft.com/office/drawing/2014/main" id="{9E942F54-A507-E71B-9D5A-F1F0A73C208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6A841DE-0E21-D243-4214-D911AD6C8037}"/>
              </a:ext>
            </a:extLst>
          </p:cNvPr>
          <p:cNvSpPr>
            <a:spLocks noGrp="1"/>
          </p:cNvSpPr>
          <p:nvPr>
            <p:ph type="sldNum" sz="quarter" idx="12"/>
          </p:nvPr>
        </p:nvSpPr>
        <p:spPr/>
        <p:txBody>
          <a:bodyPr/>
          <a:lstStyle/>
          <a:p>
            <a:fld id="{03AF476D-6C8E-4DFB-9248-1052B74512B0}" type="slidenum">
              <a:rPr lang="zh-CN" altLang="en-US" smtClean="0"/>
              <a:t>‹#›</a:t>
            </a:fld>
            <a:endParaRPr lang="zh-CN" altLang="en-US"/>
          </a:p>
        </p:txBody>
      </p:sp>
    </p:spTree>
    <p:extLst>
      <p:ext uri="{BB962C8B-B14F-4D97-AF65-F5344CB8AC3E}">
        <p14:creationId xmlns:p14="http://schemas.microsoft.com/office/powerpoint/2010/main" val="1574349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338F48-9922-C09D-2CEE-3D2312A75E6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2221E21-5E9C-9ABA-EA2F-72BCEB11C9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58789A4-C6AD-2A9E-1D70-D06106270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F94A893-0B87-325B-F4CB-61CF4EBB310D}"/>
              </a:ext>
            </a:extLst>
          </p:cNvPr>
          <p:cNvSpPr>
            <a:spLocks noGrp="1"/>
          </p:cNvSpPr>
          <p:nvPr>
            <p:ph type="dt" sz="half" idx="10"/>
          </p:nvPr>
        </p:nvSpPr>
        <p:spPr/>
        <p:txBody>
          <a:bodyPr/>
          <a:lstStyle/>
          <a:p>
            <a:fld id="{A0FF5F03-E77A-4356-9949-861A5D84F531}" type="datetimeFigureOut">
              <a:rPr lang="zh-CN" altLang="en-US" smtClean="0"/>
              <a:t>2026/6/8</a:t>
            </a:fld>
            <a:endParaRPr lang="zh-CN" altLang="en-US"/>
          </a:p>
        </p:txBody>
      </p:sp>
      <p:sp>
        <p:nvSpPr>
          <p:cNvPr id="6" name="页脚占位符 5">
            <a:extLst>
              <a:ext uri="{FF2B5EF4-FFF2-40B4-BE49-F238E27FC236}">
                <a16:creationId xmlns:a16="http://schemas.microsoft.com/office/drawing/2014/main" id="{55D148FB-D7E6-1AFF-EF4C-B2159B50D3D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50228BD-DBDC-1ABA-AD41-51CB070DEADF}"/>
              </a:ext>
            </a:extLst>
          </p:cNvPr>
          <p:cNvSpPr>
            <a:spLocks noGrp="1"/>
          </p:cNvSpPr>
          <p:nvPr>
            <p:ph type="sldNum" sz="quarter" idx="12"/>
          </p:nvPr>
        </p:nvSpPr>
        <p:spPr/>
        <p:txBody>
          <a:bodyPr/>
          <a:lstStyle/>
          <a:p>
            <a:fld id="{03AF476D-6C8E-4DFB-9248-1052B74512B0}" type="slidenum">
              <a:rPr lang="zh-CN" altLang="en-US" smtClean="0"/>
              <a:t>‹#›</a:t>
            </a:fld>
            <a:endParaRPr lang="zh-CN" altLang="en-US"/>
          </a:p>
        </p:txBody>
      </p:sp>
    </p:spTree>
    <p:extLst>
      <p:ext uri="{BB962C8B-B14F-4D97-AF65-F5344CB8AC3E}">
        <p14:creationId xmlns:p14="http://schemas.microsoft.com/office/powerpoint/2010/main" val="215625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06834F-F2F8-35F2-F186-443251BEC59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7A71976-A451-4184-361B-60C4B24992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68D7A99-45A6-0C07-AA6A-40932DC9F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2111720-4F29-D4E2-A648-96A4D995DC2C}"/>
              </a:ext>
            </a:extLst>
          </p:cNvPr>
          <p:cNvSpPr>
            <a:spLocks noGrp="1"/>
          </p:cNvSpPr>
          <p:nvPr>
            <p:ph type="dt" sz="half" idx="10"/>
          </p:nvPr>
        </p:nvSpPr>
        <p:spPr/>
        <p:txBody>
          <a:bodyPr/>
          <a:lstStyle/>
          <a:p>
            <a:fld id="{A0FF5F03-E77A-4356-9949-861A5D84F531}" type="datetimeFigureOut">
              <a:rPr lang="zh-CN" altLang="en-US" smtClean="0"/>
              <a:t>2026/6/8</a:t>
            </a:fld>
            <a:endParaRPr lang="zh-CN" altLang="en-US"/>
          </a:p>
        </p:txBody>
      </p:sp>
      <p:sp>
        <p:nvSpPr>
          <p:cNvPr id="6" name="页脚占位符 5">
            <a:extLst>
              <a:ext uri="{FF2B5EF4-FFF2-40B4-BE49-F238E27FC236}">
                <a16:creationId xmlns:a16="http://schemas.microsoft.com/office/drawing/2014/main" id="{1B415AFF-2EF7-ACFC-6EE4-65D3850EE62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B2C4BE9-689D-50A9-B557-52E6BF25DE54}"/>
              </a:ext>
            </a:extLst>
          </p:cNvPr>
          <p:cNvSpPr>
            <a:spLocks noGrp="1"/>
          </p:cNvSpPr>
          <p:nvPr>
            <p:ph type="sldNum" sz="quarter" idx="12"/>
          </p:nvPr>
        </p:nvSpPr>
        <p:spPr/>
        <p:txBody>
          <a:bodyPr/>
          <a:lstStyle/>
          <a:p>
            <a:fld id="{03AF476D-6C8E-4DFB-9248-1052B74512B0}" type="slidenum">
              <a:rPr lang="zh-CN" altLang="en-US" smtClean="0"/>
              <a:t>‹#›</a:t>
            </a:fld>
            <a:endParaRPr lang="zh-CN" altLang="en-US"/>
          </a:p>
        </p:txBody>
      </p:sp>
    </p:spTree>
    <p:extLst>
      <p:ext uri="{BB962C8B-B14F-4D97-AF65-F5344CB8AC3E}">
        <p14:creationId xmlns:p14="http://schemas.microsoft.com/office/powerpoint/2010/main" val="2596160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C1471B-4403-CE5F-C599-A0499F555AF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1A57D13-2F93-6420-9B10-31955BA3544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588A9D6-6968-8E57-827E-605C3D8955A3}"/>
              </a:ext>
            </a:extLst>
          </p:cNvPr>
          <p:cNvSpPr>
            <a:spLocks noGrp="1"/>
          </p:cNvSpPr>
          <p:nvPr>
            <p:ph type="dt" sz="half" idx="10"/>
          </p:nvPr>
        </p:nvSpPr>
        <p:spPr/>
        <p:txBody>
          <a:bodyPr/>
          <a:lstStyle/>
          <a:p>
            <a:fld id="{A0FF5F03-E77A-4356-9949-861A5D84F531}" type="datetimeFigureOut">
              <a:rPr lang="zh-CN" altLang="en-US" smtClean="0"/>
              <a:t>2026/6/8</a:t>
            </a:fld>
            <a:endParaRPr lang="zh-CN" altLang="en-US"/>
          </a:p>
        </p:txBody>
      </p:sp>
      <p:sp>
        <p:nvSpPr>
          <p:cNvPr id="5" name="页脚占位符 4">
            <a:extLst>
              <a:ext uri="{FF2B5EF4-FFF2-40B4-BE49-F238E27FC236}">
                <a16:creationId xmlns:a16="http://schemas.microsoft.com/office/drawing/2014/main" id="{1CDB0A7B-E58D-610B-90FB-D7673CE529A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63290D-015F-0209-E2A3-1DC403F6A1F9}"/>
              </a:ext>
            </a:extLst>
          </p:cNvPr>
          <p:cNvSpPr>
            <a:spLocks noGrp="1"/>
          </p:cNvSpPr>
          <p:nvPr>
            <p:ph type="sldNum" sz="quarter" idx="12"/>
          </p:nvPr>
        </p:nvSpPr>
        <p:spPr/>
        <p:txBody>
          <a:bodyPr/>
          <a:lstStyle/>
          <a:p>
            <a:fld id="{03AF476D-6C8E-4DFB-9248-1052B74512B0}" type="slidenum">
              <a:rPr lang="zh-CN" altLang="en-US" smtClean="0"/>
              <a:t>‹#›</a:t>
            </a:fld>
            <a:endParaRPr lang="zh-CN" altLang="en-US"/>
          </a:p>
        </p:txBody>
      </p:sp>
    </p:spTree>
    <p:extLst>
      <p:ext uri="{BB962C8B-B14F-4D97-AF65-F5344CB8AC3E}">
        <p14:creationId xmlns:p14="http://schemas.microsoft.com/office/powerpoint/2010/main" val="3862678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AECFF37-71D9-BA03-B539-3599E4B654C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68C2966-E060-CE25-A7CE-A5770821CBB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B3AD1E5-47D8-63C5-80E6-B7D35EA9B21D}"/>
              </a:ext>
            </a:extLst>
          </p:cNvPr>
          <p:cNvSpPr>
            <a:spLocks noGrp="1"/>
          </p:cNvSpPr>
          <p:nvPr>
            <p:ph type="dt" sz="half" idx="10"/>
          </p:nvPr>
        </p:nvSpPr>
        <p:spPr/>
        <p:txBody>
          <a:bodyPr/>
          <a:lstStyle/>
          <a:p>
            <a:fld id="{A0FF5F03-E77A-4356-9949-861A5D84F531}" type="datetimeFigureOut">
              <a:rPr lang="zh-CN" altLang="en-US" smtClean="0"/>
              <a:t>2026/6/8</a:t>
            </a:fld>
            <a:endParaRPr lang="zh-CN" altLang="en-US"/>
          </a:p>
        </p:txBody>
      </p:sp>
      <p:sp>
        <p:nvSpPr>
          <p:cNvPr id="5" name="页脚占位符 4">
            <a:extLst>
              <a:ext uri="{FF2B5EF4-FFF2-40B4-BE49-F238E27FC236}">
                <a16:creationId xmlns:a16="http://schemas.microsoft.com/office/drawing/2014/main" id="{15EF68FD-6F2C-D922-8BC8-512A939E554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8246FDB-7D34-F3EC-A943-9844D11774BB}"/>
              </a:ext>
            </a:extLst>
          </p:cNvPr>
          <p:cNvSpPr>
            <a:spLocks noGrp="1"/>
          </p:cNvSpPr>
          <p:nvPr>
            <p:ph type="sldNum" sz="quarter" idx="12"/>
          </p:nvPr>
        </p:nvSpPr>
        <p:spPr/>
        <p:txBody>
          <a:bodyPr/>
          <a:lstStyle/>
          <a:p>
            <a:fld id="{03AF476D-6C8E-4DFB-9248-1052B74512B0}" type="slidenum">
              <a:rPr lang="zh-CN" altLang="en-US" smtClean="0"/>
              <a:t>‹#›</a:t>
            </a:fld>
            <a:endParaRPr lang="zh-CN" altLang="en-US"/>
          </a:p>
        </p:txBody>
      </p:sp>
    </p:spTree>
    <p:extLst>
      <p:ext uri="{BB962C8B-B14F-4D97-AF65-F5344CB8AC3E}">
        <p14:creationId xmlns:p14="http://schemas.microsoft.com/office/powerpoint/2010/main" val="1293851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7677696"/>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07B181E-EE98-9FA1-CB96-4DB6F7FAC7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8CE1ACB-7E3C-DEB8-5EBB-C2BE0C3FF8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40031E2-BB01-3124-6D20-756D3B837B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FF5F03-E77A-4356-9949-861A5D84F531}" type="datetimeFigureOut">
              <a:rPr lang="zh-CN" altLang="en-US" smtClean="0"/>
              <a:t>2026/6/8</a:t>
            </a:fld>
            <a:endParaRPr lang="zh-CN" altLang="en-US"/>
          </a:p>
        </p:txBody>
      </p:sp>
      <p:sp>
        <p:nvSpPr>
          <p:cNvPr id="5" name="页脚占位符 4">
            <a:extLst>
              <a:ext uri="{FF2B5EF4-FFF2-40B4-BE49-F238E27FC236}">
                <a16:creationId xmlns:a16="http://schemas.microsoft.com/office/drawing/2014/main" id="{C8B65CC7-44F6-16EB-12E8-BF3065AFDF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FA455BA-DEE0-5C89-428D-E3B5D9A7A1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AF476D-6C8E-4DFB-9248-1052B74512B0}" type="slidenum">
              <a:rPr lang="zh-CN" altLang="en-US" smtClean="0"/>
              <a:t>‹#›</a:t>
            </a:fld>
            <a:endParaRPr lang="zh-CN" altLang="en-US"/>
          </a:p>
        </p:txBody>
      </p:sp>
    </p:spTree>
    <p:extLst>
      <p:ext uri="{BB962C8B-B14F-4D97-AF65-F5344CB8AC3E}">
        <p14:creationId xmlns:p14="http://schemas.microsoft.com/office/powerpoint/2010/main" val="3746403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345" y="1044768"/>
            <a:ext cx="12192000" cy="3438659"/>
          </a:xfrm>
          <a:prstGeom prst="rect">
            <a:avLst/>
          </a:prstGeom>
          <a:solidFill>
            <a:srgbClr val="012060"/>
          </a:solidFill>
          <a:ln>
            <a:noFill/>
          </a:ln>
          <a:effectLst>
            <a:outerShdw blurRad="381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9" name="文本框 8"/>
          <p:cNvSpPr txBox="1"/>
          <p:nvPr/>
        </p:nvSpPr>
        <p:spPr>
          <a:xfrm>
            <a:off x="1655242" y="1498960"/>
            <a:ext cx="8868829" cy="1569660"/>
          </a:xfrm>
          <a:prstGeom prst="rect">
            <a:avLst/>
          </a:prstGeom>
          <a:noFill/>
        </p:spPr>
        <p:txBody>
          <a:bodyPr wrap="square" rtlCol="0">
            <a:spAutoFit/>
          </a:bodyPr>
          <a:lstStyle/>
          <a:p>
            <a:r>
              <a:rPr lang="en-US" altLang="zh-CN" sz="3200" b="1" dirty="0">
                <a:solidFill>
                  <a:prstClr val="white"/>
                </a:solidFill>
                <a:effectLst>
                  <a:outerShdw blurRad="38100" sx="105000" sy="105000" algn="ctr" rotWithShape="0">
                    <a:srgbClr val="E7E6E6">
                      <a:lumMod val="50000"/>
                      <a:alpha val="40000"/>
                    </a:srgbClr>
                  </a:outerShdw>
                </a:effectLst>
                <a:latin typeface="等线" panose="02010600030101010101" pitchFamily="2" charset="-122"/>
              </a:rPr>
              <a:t>ISCST: Improved Supporting Clustering Based on Sentence-Transformers with Contrastive Learning</a:t>
            </a:r>
            <a:endParaRPr lang="zh-CN" altLang="en-US" sz="3200" b="1" dirty="0">
              <a:solidFill>
                <a:prstClr val="white"/>
              </a:solidFill>
              <a:effectLst>
                <a:outerShdw blurRad="38100" sx="105000" sy="105000" algn="ctr" rotWithShape="0">
                  <a:srgbClr val="E7E6E6">
                    <a:lumMod val="50000"/>
                    <a:alpha val="40000"/>
                  </a:srgbClr>
                </a:outerShdw>
              </a:effectLst>
              <a:latin typeface="等线" panose="02010600030101010101" pitchFamily="2" charset="-122"/>
              <a:ea typeface="等线" panose="02010600030101010101" pitchFamily="2" charset="-122"/>
            </a:endParaRPr>
          </a:p>
        </p:txBody>
      </p:sp>
      <p:sp>
        <p:nvSpPr>
          <p:cNvPr id="10" name="文本框 9"/>
          <p:cNvSpPr txBox="1"/>
          <p:nvPr/>
        </p:nvSpPr>
        <p:spPr>
          <a:xfrm>
            <a:off x="504130" y="3362851"/>
            <a:ext cx="11304929" cy="923330"/>
          </a:xfrm>
          <a:prstGeom prst="rect">
            <a:avLst/>
          </a:prstGeom>
          <a:noFill/>
        </p:spPr>
        <p:txBody>
          <a:bodyPr wrap="square" rtlCol="0">
            <a:spAutoFit/>
          </a:bodyPr>
          <a:lstStyle/>
          <a:p>
            <a:pPr algn="ctr"/>
            <a:r>
              <a:rPr lang="en-US" altLang="zh-CN" dirty="0" err="1">
                <a:solidFill>
                  <a:schemeClr val="bg1"/>
                </a:solidFill>
                <a:latin typeface="等线" panose="02010600030101010101" pitchFamily="2" charset="-122"/>
              </a:rPr>
              <a:t>Kongqiang</a:t>
            </a:r>
            <a:r>
              <a:rPr lang="en-US" altLang="zh-CN" dirty="0">
                <a:solidFill>
                  <a:schemeClr val="bg1"/>
                </a:solidFill>
                <a:latin typeface="等线" panose="02010600030101010101" pitchFamily="2" charset="-122"/>
              </a:rPr>
              <a:t> Wang, </a:t>
            </a:r>
            <a:r>
              <a:rPr lang="en-US" altLang="zh-CN" dirty="0" err="1">
                <a:solidFill>
                  <a:schemeClr val="bg1"/>
                </a:solidFill>
                <a:latin typeface="等线" panose="02010600030101010101" pitchFamily="2" charset="-122"/>
              </a:rPr>
              <a:t>Xuejie</a:t>
            </a:r>
            <a:r>
              <a:rPr lang="en-US" altLang="zh-CN" dirty="0">
                <a:solidFill>
                  <a:schemeClr val="bg1"/>
                </a:solidFill>
                <a:latin typeface="等线" panose="02010600030101010101" pitchFamily="2" charset="-122"/>
              </a:rPr>
              <a:t> Zhang, Jin Wang, Xiaobing Zhou*</a:t>
            </a:r>
          </a:p>
          <a:p>
            <a:pPr algn="ctr"/>
            <a:endParaRPr lang="en-US" altLang="zh-CN" dirty="0">
              <a:solidFill>
                <a:schemeClr val="bg1"/>
              </a:solidFill>
              <a:latin typeface="等线" panose="02010600030101010101" pitchFamily="2" charset="-122"/>
            </a:endParaRPr>
          </a:p>
          <a:p>
            <a:pPr algn="ctr"/>
            <a:r>
              <a:rPr lang="en-US" altLang="zh-CN" dirty="0">
                <a:solidFill>
                  <a:srgbClr val="E7E6E6">
                    <a:lumMod val="50000"/>
                  </a:srgbClr>
                </a:solidFill>
                <a:latin typeface="等线" panose="02010600030101010101" pitchFamily="2" charset="-122"/>
              </a:rPr>
              <a:t>School of Information Science and Engineering, Yunnan University, Kunming, Yunnan, China</a:t>
            </a:r>
          </a:p>
        </p:txBody>
      </p:sp>
      <p:cxnSp>
        <p:nvCxnSpPr>
          <p:cNvPr id="12" name="直接连接符 11"/>
          <p:cNvCxnSpPr/>
          <p:nvPr/>
        </p:nvCxnSpPr>
        <p:spPr>
          <a:xfrm>
            <a:off x="504130" y="1545617"/>
            <a:ext cx="10910277" cy="0"/>
          </a:xfrm>
          <a:prstGeom prst="line">
            <a:avLst/>
          </a:prstGeom>
          <a:ln>
            <a:solidFill>
              <a:schemeClr val="bg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86436" y="3057410"/>
            <a:ext cx="10910277" cy="0"/>
          </a:xfrm>
          <a:prstGeom prst="line">
            <a:avLst/>
          </a:prstGeom>
          <a:ln>
            <a:solidFill>
              <a:schemeClr val="bg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2830290" y="3310370"/>
            <a:ext cx="342764" cy="342764"/>
            <a:chOff x="4688155" y="5875923"/>
            <a:chExt cx="342764" cy="342764"/>
          </a:xfrm>
        </p:grpSpPr>
        <p:sp>
          <p:nvSpPr>
            <p:cNvPr id="15" name="椭圆 14"/>
            <p:cNvSpPr/>
            <p:nvPr/>
          </p:nvSpPr>
          <p:spPr>
            <a:xfrm>
              <a:off x="4688155" y="5875923"/>
              <a:ext cx="342764" cy="342764"/>
            </a:xfrm>
            <a:prstGeom prst="ellipse">
              <a:avLst/>
            </a:prstGeom>
            <a:solidFill>
              <a:srgbClr val="01206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16" name="组合 15"/>
            <p:cNvGrpSpPr/>
            <p:nvPr/>
          </p:nvGrpSpPr>
          <p:grpSpPr>
            <a:xfrm>
              <a:off x="4763028" y="5947390"/>
              <a:ext cx="193018" cy="199830"/>
              <a:chOff x="5753100" y="3041650"/>
              <a:chExt cx="682626" cy="771526"/>
            </a:xfrm>
            <a:solidFill>
              <a:schemeClr val="accent1"/>
            </a:solidFill>
          </p:grpSpPr>
          <p:sp>
            <p:nvSpPr>
              <p:cNvPr id="17" name="Oval 202"/>
              <p:cNvSpPr>
                <a:spLocks noChangeArrowheads="1"/>
              </p:cNvSpPr>
              <p:nvPr/>
            </p:nvSpPr>
            <p:spPr bwMode="auto">
              <a:xfrm>
                <a:off x="5908675" y="3041650"/>
                <a:ext cx="119063" cy="1476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8" name="Freeform 203"/>
              <p:cNvSpPr/>
              <p:nvPr/>
            </p:nvSpPr>
            <p:spPr bwMode="auto">
              <a:xfrm>
                <a:off x="6103938" y="3413125"/>
                <a:ext cx="46038" cy="84138"/>
              </a:xfrm>
              <a:custGeom>
                <a:avLst/>
                <a:gdLst>
                  <a:gd name="T0" fmla="*/ 2 w 12"/>
                  <a:gd name="T1" fmla="*/ 22 h 22"/>
                  <a:gd name="T2" fmla="*/ 10 w 12"/>
                  <a:gd name="T3" fmla="*/ 22 h 22"/>
                  <a:gd name="T4" fmla="*/ 12 w 12"/>
                  <a:gd name="T5" fmla="*/ 20 h 22"/>
                  <a:gd name="T6" fmla="*/ 12 w 12"/>
                  <a:gd name="T7" fmla="*/ 2 h 22"/>
                  <a:gd name="T8" fmla="*/ 10 w 12"/>
                  <a:gd name="T9" fmla="*/ 0 h 22"/>
                  <a:gd name="T10" fmla="*/ 2 w 12"/>
                  <a:gd name="T11" fmla="*/ 0 h 22"/>
                  <a:gd name="T12" fmla="*/ 0 w 12"/>
                  <a:gd name="T13" fmla="*/ 2 h 22"/>
                  <a:gd name="T14" fmla="*/ 0 w 12"/>
                  <a:gd name="T15" fmla="*/ 20 h 22"/>
                  <a:gd name="T16" fmla="*/ 2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2" y="22"/>
                    </a:moveTo>
                    <a:cubicBezTo>
                      <a:pt x="10" y="22"/>
                      <a:pt x="10" y="22"/>
                      <a:pt x="10" y="22"/>
                    </a:cubicBezTo>
                    <a:cubicBezTo>
                      <a:pt x="11" y="22"/>
                      <a:pt x="12" y="21"/>
                      <a:pt x="12" y="20"/>
                    </a:cubicBezTo>
                    <a:cubicBezTo>
                      <a:pt x="12" y="2"/>
                      <a:pt x="12" y="2"/>
                      <a:pt x="12" y="2"/>
                    </a:cubicBezTo>
                    <a:cubicBezTo>
                      <a:pt x="12" y="1"/>
                      <a:pt x="11" y="0"/>
                      <a:pt x="10" y="0"/>
                    </a:cubicBezTo>
                    <a:cubicBezTo>
                      <a:pt x="2" y="0"/>
                      <a:pt x="2" y="0"/>
                      <a:pt x="2" y="0"/>
                    </a:cubicBezTo>
                    <a:cubicBezTo>
                      <a:pt x="1" y="0"/>
                      <a:pt x="0" y="1"/>
                      <a:pt x="0" y="2"/>
                    </a:cubicBezTo>
                    <a:cubicBezTo>
                      <a:pt x="0" y="20"/>
                      <a:pt x="0" y="20"/>
                      <a:pt x="0" y="20"/>
                    </a:cubicBezTo>
                    <a:cubicBezTo>
                      <a:pt x="0" y="21"/>
                      <a:pt x="1" y="22"/>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9" name="Freeform 204"/>
              <p:cNvSpPr/>
              <p:nvPr/>
            </p:nvSpPr>
            <p:spPr bwMode="auto">
              <a:xfrm>
                <a:off x="6313488" y="3413125"/>
                <a:ext cx="46038" cy="84138"/>
              </a:xfrm>
              <a:custGeom>
                <a:avLst/>
                <a:gdLst>
                  <a:gd name="T0" fmla="*/ 3 w 12"/>
                  <a:gd name="T1" fmla="*/ 22 h 22"/>
                  <a:gd name="T2" fmla="*/ 10 w 12"/>
                  <a:gd name="T3" fmla="*/ 22 h 22"/>
                  <a:gd name="T4" fmla="*/ 12 w 12"/>
                  <a:gd name="T5" fmla="*/ 20 h 22"/>
                  <a:gd name="T6" fmla="*/ 12 w 12"/>
                  <a:gd name="T7" fmla="*/ 2 h 22"/>
                  <a:gd name="T8" fmla="*/ 10 w 12"/>
                  <a:gd name="T9" fmla="*/ 0 h 22"/>
                  <a:gd name="T10" fmla="*/ 3 w 12"/>
                  <a:gd name="T11" fmla="*/ 0 h 22"/>
                  <a:gd name="T12" fmla="*/ 0 w 12"/>
                  <a:gd name="T13" fmla="*/ 2 h 22"/>
                  <a:gd name="T14" fmla="*/ 0 w 12"/>
                  <a:gd name="T15" fmla="*/ 20 h 22"/>
                  <a:gd name="T16" fmla="*/ 3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3" y="22"/>
                    </a:moveTo>
                    <a:cubicBezTo>
                      <a:pt x="10" y="22"/>
                      <a:pt x="10" y="22"/>
                      <a:pt x="10" y="22"/>
                    </a:cubicBezTo>
                    <a:cubicBezTo>
                      <a:pt x="12" y="22"/>
                      <a:pt x="12" y="21"/>
                      <a:pt x="12" y="20"/>
                    </a:cubicBezTo>
                    <a:cubicBezTo>
                      <a:pt x="12" y="2"/>
                      <a:pt x="12" y="2"/>
                      <a:pt x="12" y="2"/>
                    </a:cubicBezTo>
                    <a:cubicBezTo>
                      <a:pt x="12" y="1"/>
                      <a:pt x="12" y="0"/>
                      <a:pt x="10" y="0"/>
                    </a:cubicBezTo>
                    <a:cubicBezTo>
                      <a:pt x="3" y="0"/>
                      <a:pt x="3" y="0"/>
                      <a:pt x="3" y="0"/>
                    </a:cubicBezTo>
                    <a:cubicBezTo>
                      <a:pt x="1" y="0"/>
                      <a:pt x="0" y="1"/>
                      <a:pt x="0" y="2"/>
                    </a:cubicBezTo>
                    <a:cubicBezTo>
                      <a:pt x="0" y="20"/>
                      <a:pt x="0" y="20"/>
                      <a:pt x="0" y="20"/>
                    </a:cubicBezTo>
                    <a:cubicBezTo>
                      <a:pt x="0" y="21"/>
                      <a:pt x="1" y="22"/>
                      <a:pt x="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0" name="Freeform 205"/>
              <p:cNvSpPr>
                <a:spLocks noEditPoints="1"/>
              </p:cNvSpPr>
              <p:nvPr/>
            </p:nvSpPr>
            <p:spPr bwMode="auto">
              <a:xfrm>
                <a:off x="6030913" y="3444875"/>
                <a:ext cx="404813" cy="360363"/>
              </a:xfrm>
              <a:custGeom>
                <a:avLst/>
                <a:gdLst>
                  <a:gd name="T0" fmla="*/ 94 w 106"/>
                  <a:gd name="T1" fmla="*/ 0 h 95"/>
                  <a:gd name="T2" fmla="*/ 91 w 106"/>
                  <a:gd name="T3" fmla="*/ 0 h 95"/>
                  <a:gd name="T4" fmla="*/ 91 w 106"/>
                  <a:gd name="T5" fmla="*/ 12 h 95"/>
                  <a:gd name="T6" fmla="*/ 84 w 106"/>
                  <a:gd name="T7" fmla="*/ 18 h 95"/>
                  <a:gd name="T8" fmla="*/ 77 w 106"/>
                  <a:gd name="T9" fmla="*/ 18 h 95"/>
                  <a:gd name="T10" fmla="*/ 70 w 106"/>
                  <a:gd name="T11" fmla="*/ 12 h 95"/>
                  <a:gd name="T12" fmla="*/ 70 w 106"/>
                  <a:gd name="T13" fmla="*/ 0 h 95"/>
                  <a:gd name="T14" fmla="*/ 36 w 106"/>
                  <a:gd name="T15" fmla="*/ 0 h 95"/>
                  <a:gd name="T16" fmla="*/ 36 w 106"/>
                  <a:gd name="T17" fmla="*/ 12 h 95"/>
                  <a:gd name="T18" fmla="*/ 29 w 106"/>
                  <a:gd name="T19" fmla="*/ 18 h 95"/>
                  <a:gd name="T20" fmla="*/ 21 w 106"/>
                  <a:gd name="T21" fmla="*/ 18 h 95"/>
                  <a:gd name="T22" fmla="*/ 15 w 106"/>
                  <a:gd name="T23" fmla="*/ 12 h 95"/>
                  <a:gd name="T24" fmla="*/ 15 w 106"/>
                  <a:gd name="T25" fmla="*/ 0 h 95"/>
                  <a:gd name="T26" fmla="*/ 12 w 106"/>
                  <a:gd name="T27" fmla="*/ 0 h 95"/>
                  <a:gd name="T28" fmla="*/ 0 w 106"/>
                  <a:gd name="T29" fmla="*/ 13 h 95"/>
                  <a:gd name="T30" fmla="*/ 0 w 106"/>
                  <a:gd name="T31" fmla="*/ 36 h 95"/>
                  <a:gd name="T32" fmla="*/ 0 w 106"/>
                  <a:gd name="T33" fmla="*/ 83 h 95"/>
                  <a:gd name="T34" fmla="*/ 12 w 106"/>
                  <a:gd name="T35" fmla="*/ 95 h 95"/>
                  <a:gd name="T36" fmla="*/ 94 w 106"/>
                  <a:gd name="T37" fmla="*/ 95 h 95"/>
                  <a:gd name="T38" fmla="*/ 106 w 106"/>
                  <a:gd name="T39" fmla="*/ 83 h 95"/>
                  <a:gd name="T40" fmla="*/ 106 w 106"/>
                  <a:gd name="T41" fmla="*/ 36 h 95"/>
                  <a:gd name="T42" fmla="*/ 106 w 106"/>
                  <a:gd name="T43" fmla="*/ 13 h 95"/>
                  <a:gd name="T44" fmla="*/ 94 w 106"/>
                  <a:gd name="T45" fmla="*/ 0 h 95"/>
                  <a:gd name="T46" fmla="*/ 98 w 106"/>
                  <a:gd name="T47" fmla="*/ 83 h 95"/>
                  <a:gd name="T48" fmla="*/ 94 w 106"/>
                  <a:gd name="T49" fmla="*/ 88 h 95"/>
                  <a:gd name="T50" fmla="*/ 12 w 106"/>
                  <a:gd name="T51" fmla="*/ 88 h 95"/>
                  <a:gd name="T52" fmla="*/ 8 w 106"/>
                  <a:gd name="T53" fmla="*/ 83 h 95"/>
                  <a:gd name="T54" fmla="*/ 8 w 106"/>
                  <a:gd name="T55" fmla="*/ 36 h 95"/>
                  <a:gd name="T56" fmla="*/ 98 w 106"/>
                  <a:gd name="T57" fmla="*/ 36 h 95"/>
                  <a:gd name="T58" fmla="*/ 98 w 106"/>
                  <a:gd name="T59" fmla="*/ 8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95">
                    <a:moveTo>
                      <a:pt x="94" y="0"/>
                    </a:moveTo>
                    <a:cubicBezTo>
                      <a:pt x="91" y="0"/>
                      <a:pt x="91" y="0"/>
                      <a:pt x="91" y="0"/>
                    </a:cubicBezTo>
                    <a:cubicBezTo>
                      <a:pt x="91" y="12"/>
                      <a:pt x="91" y="12"/>
                      <a:pt x="91" y="12"/>
                    </a:cubicBezTo>
                    <a:cubicBezTo>
                      <a:pt x="91" y="15"/>
                      <a:pt x="88" y="18"/>
                      <a:pt x="84" y="18"/>
                    </a:cubicBezTo>
                    <a:cubicBezTo>
                      <a:pt x="77" y="18"/>
                      <a:pt x="77" y="18"/>
                      <a:pt x="77" y="18"/>
                    </a:cubicBezTo>
                    <a:cubicBezTo>
                      <a:pt x="73" y="18"/>
                      <a:pt x="70" y="15"/>
                      <a:pt x="70" y="12"/>
                    </a:cubicBezTo>
                    <a:cubicBezTo>
                      <a:pt x="70" y="0"/>
                      <a:pt x="70" y="0"/>
                      <a:pt x="70" y="0"/>
                    </a:cubicBezTo>
                    <a:cubicBezTo>
                      <a:pt x="36" y="0"/>
                      <a:pt x="36" y="0"/>
                      <a:pt x="36" y="0"/>
                    </a:cubicBezTo>
                    <a:cubicBezTo>
                      <a:pt x="36" y="12"/>
                      <a:pt x="36" y="12"/>
                      <a:pt x="36" y="12"/>
                    </a:cubicBezTo>
                    <a:cubicBezTo>
                      <a:pt x="36" y="15"/>
                      <a:pt x="33" y="18"/>
                      <a:pt x="29" y="18"/>
                    </a:cubicBezTo>
                    <a:cubicBezTo>
                      <a:pt x="21" y="18"/>
                      <a:pt x="21" y="18"/>
                      <a:pt x="21" y="18"/>
                    </a:cubicBezTo>
                    <a:cubicBezTo>
                      <a:pt x="18" y="18"/>
                      <a:pt x="15" y="15"/>
                      <a:pt x="15" y="12"/>
                    </a:cubicBezTo>
                    <a:cubicBezTo>
                      <a:pt x="15" y="0"/>
                      <a:pt x="15" y="0"/>
                      <a:pt x="15" y="0"/>
                    </a:cubicBezTo>
                    <a:cubicBezTo>
                      <a:pt x="12" y="0"/>
                      <a:pt x="12" y="0"/>
                      <a:pt x="12" y="0"/>
                    </a:cubicBezTo>
                    <a:cubicBezTo>
                      <a:pt x="5" y="0"/>
                      <a:pt x="0" y="6"/>
                      <a:pt x="0" y="13"/>
                    </a:cubicBezTo>
                    <a:cubicBezTo>
                      <a:pt x="0" y="36"/>
                      <a:pt x="0" y="36"/>
                      <a:pt x="0" y="36"/>
                    </a:cubicBezTo>
                    <a:cubicBezTo>
                      <a:pt x="0" y="83"/>
                      <a:pt x="0" y="83"/>
                      <a:pt x="0" y="83"/>
                    </a:cubicBezTo>
                    <a:cubicBezTo>
                      <a:pt x="0" y="90"/>
                      <a:pt x="5" y="95"/>
                      <a:pt x="12" y="95"/>
                    </a:cubicBezTo>
                    <a:cubicBezTo>
                      <a:pt x="94" y="95"/>
                      <a:pt x="94" y="95"/>
                      <a:pt x="94" y="95"/>
                    </a:cubicBezTo>
                    <a:cubicBezTo>
                      <a:pt x="100" y="95"/>
                      <a:pt x="106" y="90"/>
                      <a:pt x="106" y="83"/>
                    </a:cubicBezTo>
                    <a:cubicBezTo>
                      <a:pt x="106" y="36"/>
                      <a:pt x="106" y="36"/>
                      <a:pt x="106" y="36"/>
                    </a:cubicBezTo>
                    <a:cubicBezTo>
                      <a:pt x="106" y="13"/>
                      <a:pt x="106" y="13"/>
                      <a:pt x="106" y="13"/>
                    </a:cubicBezTo>
                    <a:cubicBezTo>
                      <a:pt x="106" y="6"/>
                      <a:pt x="100" y="0"/>
                      <a:pt x="94" y="0"/>
                    </a:cubicBezTo>
                    <a:close/>
                    <a:moveTo>
                      <a:pt x="98" y="83"/>
                    </a:moveTo>
                    <a:cubicBezTo>
                      <a:pt x="98" y="86"/>
                      <a:pt x="96" y="88"/>
                      <a:pt x="94" y="88"/>
                    </a:cubicBezTo>
                    <a:cubicBezTo>
                      <a:pt x="12" y="88"/>
                      <a:pt x="12" y="88"/>
                      <a:pt x="12" y="88"/>
                    </a:cubicBezTo>
                    <a:cubicBezTo>
                      <a:pt x="10" y="88"/>
                      <a:pt x="8" y="86"/>
                      <a:pt x="8" y="83"/>
                    </a:cubicBezTo>
                    <a:cubicBezTo>
                      <a:pt x="8" y="36"/>
                      <a:pt x="8" y="36"/>
                      <a:pt x="8" y="36"/>
                    </a:cubicBezTo>
                    <a:cubicBezTo>
                      <a:pt x="98" y="36"/>
                      <a:pt x="98" y="36"/>
                      <a:pt x="98" y="36"/>
                    </a:cubicBezTo>
                    <a:lnTo>
                      <a:pt x="98"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white"/>
                  </a:solidFill>
                </a:endParaRPr>
              </a:p>
            </p:txBody>
          </p:sp>
          <p:sp>
            <p:nvSpPr>
              <p:cNvPr id="21" name="Rectangle 206"/>
              <p:cNvSpPr>
                <a:spLocks noChangeArrowheads="1"/>
              </p:cNvSpPr>
              <p:nvPr/>
            </p:nvSpPr>
            <p:spPr bwMode="auto">
              <a:xfrm>
                <a:off x="608488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2" name="Rectangle 207"/>
              <p:cNvSpPr>
                <a:spLocks noChangeArrowheads="1"/>
              </p:cNvSpPr>
              <p:nvPr/>
            </p:nvSpPr>
            <p:spPr bwMode="auto">
              <a:xfrm>
                <a:off x="6191250"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3" name="Rectangle 208"/>
              <p:cNvSpPr>
                <a:spLocks noChangeArrowheads="1"/>
              </p:cNvSpPr>
              <p:nvPr/>
            </p:nvSpPr>
            <p:spPr bwMode="auto">
              <a:xfrm>
                <a:off x="629443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4" name="Rectangle 209"/>
              <p:cNvSpPr>
                <a:spLocks noChangeArrowheads="1"/>
              </p:cNvSpPr>
              <p:nvPr/>
            </p:nvSpPr>
            <p:spPr bwMode="auto">
              <a:xfrm>
                <a:off x="608488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5" name="Rectangle 210"/>
              <p:cNvSpPr>
                <a:spLocks noChangeArrowheads="1"/>
              </p:cNvSpPr>
              <p:nvPr/>
            </p:nvSpPr>
            <p:spPr bwMode="auto">
              <a:xfrm>
                <a:off x="6191250"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6" name="Rectangle 211"/>
              <p:cNvSpPr>
                <a:spLocks noChangeArrowheads="1"/>
              </p:cNvSpPr>
              <p:nvPr/>
            </p:nvSpPr>
            <p:spPr bwMode="auto">
              <a:xfrm>
                <a:off x="629443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7" name="Rectangle 212"/>
              <p:cNvSpPr>
                <a:spLocks noChangeArrowheads="1"/>
              </p:cNvSpPr>
              <p:nvPr/>
            </p:nvSpPr>
            <p:spPr bwMode="auto">
              <a:xfrm>
                <a:off x="608488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8" name="Rectangle 213"/>
              <p:cNvSpPr>
                <a:spLocks noChangeArrowheads="1"/>
              </p:cNvSpPr>
              <p:nvPr/>
            </p:nvSpPr>
            <p:spPr bwMode="auto">
              <a:xfrm>
                <a:off x="6191250"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9" name="Rectangle 214"/>
              <p:cNvSpPr>
                <a:spLocks noChangeArrowheads="1"/>
              </p:cNvSpPr>
              <p:nvPr/>
            </p:nvSpPr>
            <p:spPr bwMode="auto">
              <a:xfrm>
                <a:off x="629443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0" name="Rectangle 215"/>
              <p:cNvSpPr>
                <a:spLocks noChangeArrowheads="1"/>
              </p:cNvSpPr>
              <p:nvPr/>
            </p:nvSpPr>
            <p:spPr bwMode="auto">
              <a:xfrm>
                <a:off x="5965825" y="339883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1" name="Freeform 216"/>
              <p:cNvSpPr>
                <a:spLocks noEditPoints="1"/>
              </p:cNvSpPr>
              <p:nvPr/>
            </p:nvSpPr>
            <p:spPr bwMode="auto">
              <a:xfrm>
                <a:off x="5753100" y="3208338"/>
                <a:ext cx="427038" cy="604838"/>
              </a:xfrm>
              <a:custGeom>
                <a:avLst/>
                <a:gdLst>
                  <a:gd name="T0" fmla="*/ 111 w 112"/>
                  <a:gd name="T1" fmla="*/ 23 h 159"/>
                  <a:gd name="T2" fmla="*/ 106 w 112"/>
                  <a:gd name="T3" fmla="*/ 19 h 159"/>
                  <a:gd name="T4" fmla="*/ 83 w 112"/>
                  <a:gd name="T5" fmla="*/ 2 h 159"/>
                  <a:gd name="T6" fmla="*/ 77 w 112"/>
                  <a:gd name="T7" fmla="*/ 0 h 159"/>
                  <a:gd name="T8" fmla="*/ 70 w 112"/>
                  <a:gd name="T9" fmla="*/ 0 h 159"/>
                  <a:gd name="T10" fmla="*/ 68 w 112"/>
                  <a:gd name="T11" fmla="*/ 10 h 159"/>
                  <a:gd name="T12" fmla="*/ 56 w 112"/>
                  <a:gd name="T13" fmla="*/ 50 h 159"/>
                  <a:gd name="T14" fmla="*/ 56 w 112"/>
                  <a:gd name="T15" fmla="*/ 51 h 159"/>
                  <a:gd name="T16" fmla="*/ 56 w 112"/>
                  <a:gd name="T17" fmla="*/ 50 h 159"/>
                  <a:gd name="T18" fmla="*/ 45 w 112"/>
                  <a:gd name="T19" fmla="*/ 10 h 159"/>
                  <a:gd name="T20" fmla="*/ 43 w 112"/>
                  <a:gd name="T21" fmla="*/ 0 h 159"/>
                  <a:gd name="T22" fmla="*/ 35 w 112"/>
                  <a:gd name="T23" fmla="*/ 0 h 159"/>
                  <a:gd name="T24" fmla="*/ 28 w 112"/>
                  <a:gd name="T25" fmla="*/ 4 h 159"/>
                  <a:gd name="T26" fmla="*/ 0 w 112"/>
                  <a:gd name="T27" fmla="*/ 44 h 159"/>
                  <a:gd name="T28" fmla="*/ 0 w 112"/>
                  <a:gd name="T29" fmla="*/ 44 h 159"/>
                  <a:gd name="T30" fmla="*/ 0 w 112"/>
                  <a:gd name="T31" fmla="*/ 45 h 159"/>
                  <a:gd name="T32" fmla="*/ 2 w 112"/>
                  <a:gd name="T33" fmla="*/ 48 h 159"/>
                  <a:gd name="T34" fmla="*/ 9 w 112"/>
                  <a:gd name="T35" fmla="*/ 61 h 159"/>
                  <a:gd name="T36" fmla="*/ 29 w 112"/>
                  <a:gd name="T37" fmla="*/ 72 h 159"/>
                  <a:gd name="T38" fmla="*/ 29 w 112"/>
                  <a:gd name="T39" fmla="*/ 84 h 159"/>
                  <a:gd name="T40" fmla="*/ 34 w 112"/>
                  <a:gd name="T41" fmla="*/ 159 h 159"/>
                  <a:gd name="T42" fmla="*/ 55 w 112"/>
                  <a:gd name="T43" fmla="*/ 84 h 159"/>
                  <a:gd name="T44" fmla="*/ 60 w 112"/>
                  <a:gd name="T45" fmla="*/ 159 h 159"/>
                  <a:gd name="T46" fmla="*/ 67 w 112"/>
                  <a:gd name="T47" fmla="*/ 145 h 159"/>
                  <a:gd name="T48" fmla="*/ 76 w 112"/>
                  <a:gd name="T49" fmla="*/ 59 h 159"/>
                  <a:gd name="T50" fmla="*/ 110 w 112"/>
                  <a:gd name="T51" fmla="*/ 41 h 159"/>
                  <a:gd name="T52" fmla="*/ 112 w 112"/>
                  <a:gd name="T53" fmla="*/ 24 h 159"/>
                  <a:gd name="T54" fmla="*/ 27 w 112"/>
                  <a:gd name="T55" fmla="*/ 51 h 159"/>
                  <a:gd name="T56" fmla="*/ 21 w 112"/>
                  <a:gd name="T57" fmla="*/ 40 h 159"/>
                  <a:gd name="T58" fmla="*/ 30 w 112"/>
                  <a:gd name="T59" fmla="*/ 55 h 159"/>
                  <a:gd name="T60" fmla="*/ 68 w 112"/>
                  <a:gd name="T61" fmla="*/ 39 h 159"/>
                  <a:gd name="T62" fmla="*/ 82 w 112"/>
                  <a:gd name="T63" fmla="*/ 25 h 159"/>
                  <a:gd name="T64" fmla="*/ 88 w 112"/>
                  <a:gd name="T6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59">
                    <a:moveTo>
                      <a:pt x="112" y="24"/>
                    </a:moveTo>
                    <a:cubicBezTo>
                      <a:pt x="111" y="23"/>
                      <a:pt x="111" y="23"/>
                      <a:pt x="111" y="23"/>
                    </a:cubicBezTo>
                    <a:cubicBezTo>
                      <a:pt x="110" y="22"/>
                      <a:pt x="110" y="22"/>
                      <a:pt x="110" y="22"/>
                    </a:cubicBezTo>
                    <a:cubicBezTo>
                      <a:pt x="106" y="19"/>
                      <a:pt x="106" y="19"/>
                      <a:pt x="106" y="19"/>
                    </a:cubicBezTo>
                    <a:cubicBezTo>
                      <a:pt x="98" y="13"/>
                      <a:pt x="98" y="13"/>
                      <a:pt x="98" y="13"/>
                    </a:cubicBezTo>
                    <a:cubicBezTo>
                      <a:pt x="83" y="2"/>
                      <a:pt x="83" y="2"/>
                      <a:pt x="83" y="2"/>
                    </a:cubicBezTo>
                    <a:cubicBezTo>
                      <a:pt x="81" y="1"/>
                      <a:pt x="80" y="0"/>
                      <a:pt x="78" y="0"/>
                    </a:cubicBezTo>
                    <a:cubicBezTo>
                      <a:pt x="78" y="0"/>
                      <a:pt x="78" y="0"/>
                      <a:pt x="77" y="0"/>
                    </a:cubicBezTo>
                    <a:cubicBezTo>
                      <a:pt x="75" y="0"/>
                      <a:pt x="72" y="0"/>
                      <a:pt x="70" y="0"/>
                    </a:cubicBezTo>
                    <a:cubicBezTo>
                      <a:pt x="70" y="0"/>
                      <a:pt x="70" y="0"/>
                      <a:pt x="70" y="0"/>
                    </a:cubicBezTo>
                    <a:cubicBezTo>
                      <a:pt x="76" y="5"/>
                      <a:pt x="76" y="5"/>
                      <a:pt x="76" y="5"/>
                    </a:cubicBezTo>
                    <a:cubicBezTo>
                      <a:pt x="68" y="10"/>
                      <a:pt x="68" y="10"/>
                      <a:pt x="68" y="10"/>
                    </a:cubicBezTo>
                    <a:cubicBezTo>
                      <a:pt x="72" y="16"/>
                      <a:pt x="72" y="16"/>
                      <a:pt x="72" y="16"/>
                    </a:cubicBezTo>
                    <a:cubicBezTo>
                      <a:pt x="56" y="50"/>
                      <a:pt x="56" y="50"/>
                      <a:pt x="56" y="50"/>
                    </a:cubicBezTo>
                    <a:cubicBezTo>
                      <a:pt x="57" y="51"/>
                      <a:pt x="57" y="51"/>
                      <a:pt x="57" y="51"/>
                    </a:cubicBezTo>
                    <a:cubicBezTo>
                      <a:pt x="56" y="51"/>
                      <a:pt x="56" y="51"/>
                      <a:pt x="56" y="51"/>
                    </a:cubicBezTo>
                    <a:cubicBezTo>
                      <a:pt x="56" y="51"/>
                      <a:pt x="56" y="51"/>
                      <a:pt x="56" y="51"/>
                    </a:cubicBezTo>
                    <a:cubicBezTo>
                      <a:pt x="56" y="50"/>
                      <a:pt x="56" y="50"/>
                      <a:pt x="56" y="50"/>
                    </a:cubicBezTo>
                    <a:cubicBezTo>
                      <a:pt x="41" y="16"/>
                      <a:pt x="41" y="16"/>
                      <a:pt x="41" y="16"/>
                    </a:cubicBezTo>
                    <a:cubicBezTo>
                      <a:pt x="45" y="10"/>
                      <a:pt x="45" y="10"/>
                      <a:pt x="45" y="10"/>
                    </a:cubicBezTo>
                    <a:cubicBezTo>
                      <a:pt x="36" y="5"/>
                      <a:pt x="36" y="5"/>
                      <a:pt x="36" y="5"/>
                    </a:cubicBezTo>
                    <a:cubicBezTo>
                      <a:pt x="43" y="0"/>
                      <a:pt x="43" y="0"/>
                      <a:pt x="43" y="0"/>
                    </a:cubicBezTo>
                    <a:cubicBezTo>
                      <a:pt x="43" y="0"/>
                      <a:pt x="43" y="0"/>
                      <a:pt x="43" y="0"/>
                    </a:cubicBezTo>
                    <a:cubicBezTo>
                      <a:pt x="41" y="0"/>
                      <a:pt x="38" y="0"/>
                      <a:pt x="35" y="0"/>
                    </a:cubicBezTo>
                    <a:cubicBezTo>
                      <a:pt x="35" y="0"/>
                      <a:pt x="35" y="0"/>
                      <a:pt x="35" y="0"/>
                    </a:cubicBezTo>
                    <a:cubicBezTo>
                      <a:pt x="32" y="1"/>
                      <a:pt x="30" y="2"/>
                      <a:pt x="28" y="4"/>
                    </a:cubicBezTo>
                    <a:cubicBezTo>
                      <a:pt x="1" y="32"/>
                      <a:pt x="1" y="32"/>
                      <a:pt x="1" y="32"/>
                    </a:cubicBezTo>
                    <a:cubicBezTo>
                      <a:pt x="0" y="44"/>
                      <a:pt x="0" y="44"/>
                      <a:pt x="0" y="44"/>
                    </a:cubicBezTo>
                    <a:cubicBezTo>
                      <a:pt x="0" y="44"/>
                      <a:pt x="0" y="44"/>
                      <a:pt x="0" y="44"/>
                    </a:cubicBezTo>
                    <a:cubicBezTo>
                      <a:pt x="0" y="44"/>
                      <a:pt x="0" y="44"/>
                      <a:pt x="0" y="44"/>
                    </a:cubicBezTo>
                    <a:cubicBezTo>
                      <a:pt x="0" y="44"/>
                      <a:pt x="0" y="44"/>
                      <a:pt x="0" y="44"/>
                    </a:cubicBezTo>
                    <a:cubicBezTo>
                      <a:pt x="0" y="45"/>
                      <a:pt x="0" y="45"/>
                      <a:pt x="0" y="45"/>
                    </a:cubicBezTo>
                    <a:cubicBezTo>
                      <a:pt x="1" y="46"/>
                      <a:pt x="1" y="46"/>
                      <a:pt x="1" y="46"/>
                    </a:cubicBezTo>
                    <a:cubicBezTo>
                      <a:pt x="2" y="48"/>
                      <a:pt x="2" y="48"/>
                      <a:pt x="2" y="48"/>
                    </a:cubicBezTo>
                    <a:cubicBezTo>
                      <a:pt x="4" y="52"/>
                      <a:pt x="4" y="52"/>
                      <a:pt x="4" y="52"/>
                    </a:cubicBezTo>
                    <a:cubicBezTo>
                      <a:pt x="9" y="61"/>
                      <a:pt x="9" y="61"/>
                      <a:pt x="9" y="61"/>
                    </a:cubicBezTo>
                    <a:cubicBezTo>
                      <a:pt x="18" y="78"/>
                      <a:pt x="18" y="78"/>
                      <a:pt x="18" y="78"/>
                    </a:cubicBezTo>
                    <a:cubicBezTo>
                      <a:pt x="22" y="76"/>
                      <a:pt x="26" y="74"/>
                      <a:pt x="29" y="72"/>
                    </a:cubicBezTo>
                    <a:cubicBezTo>
                      <a:pt x="29" y="76"/>
                      <a:pt x="29" y="80"/>
                      <a:pt x="29" y="83"/>
                    </a:cubicBezTo>
                    <a:cubicBezTo>
                      <a:pt x="29" y="83"/>
                      <a:pt x="29" y="84"/>
                      <a:pt x="29" y="84"/>
                    </a:cubicBezTo>
                    <a:cubicBezTo>
                      <a:pt x="30" y="84"/>
                      <a:pt x="31" y="84"/>
                      <a:pt x="31" y="84"/>
                    </a:cubicBezTo>
                    <a:cubicBezTo>
                      <a:pt x="34" y="159"/>
                      <a:pt x="34" y="159"/>
                      <a:pt x="34" y="159"/>
                    </a:cubicBezTo>
                    <a:cubicBezTo>
                      <a:pt x="55" y="159"/>
                      <a:pt x="55" y="159"/>
                      <a:pt x="55" y="159"/>
                    </a:cubicBezTo>
                    <a:cubicBezTo>
                      <a:pt x="56" y="137"/>
                      <a:pt x="56" y="99"/>
                      <a:pt x="55" y="84"/>
                    </a:cubicBezTo>
                    <a:cubicBezTo>
                      <a:pt x="56" y="84"/>
                      <a:pt x="57" y="84"/>
                      <a:pt x="58" y="84"/>
                    </a:cubicBezTo>
                    <a:cubicBezTo>
                      <a:pt x="60" y="159"/>
                      <a:pt x="60" y="159"/>
                      <a:pt x="60" y="159"/>
                    </a:cubicBezTo>
                    <a:cubicBezTo>
                      <a:pt x="74" y="159"/>
                      <a:pt x="74" y="159"/>
                      <a:pt x="74" y="159"/>
                    </a:cubicBezTo>
                    <a:cubicBezTo>
                      <a:pt x="70" y="156"/>
                      <a:pt x="67" y="151"/>
                      <a:pt x="67" y="145"/>
                    </a:cubicBezTo>
                    <a:cubicBezTo>
                      <a:pt x="67" y="75"/>
                      <a:pt x="67" y="75"/>
                      <a:pt x="67" y="75"/>
                    </a:cubicBezTo>
                    <a:cubicBezTo>
                      <a:pt x="67" y="68"/>
                      <a:pt x="71" y="62"/>
                      <a:pt x="76" y="59"/>
                    </a:cubicBezTo>
                    <a:cubicBezTo>
                      <a:pt x="77" y="60"/>
                      <a:pt x="78" y="61"/>
                      <a:pt x="78" y="62"/>
                    </a:cubicBezTo>
                    <a:cubicBezTo>
                      <a:pt x="110" y="41"/>
                      <a:pt x="110" y="41"/>
                      <a:pt x="110" y="41"/>
                    </a:cubicBezTo>
                    <a:cubicBezTo>
                      <a:pt x="111" y="40"/>
                      <a:pt x="111" y="40"/>
                      <a:pt x="111" y="40"/>
                    </a:cubicBezTo>
                    <a:lnTo>
                      <a:pt x="112" y="24"/>
                    </a:lnTo>
                    <a:close/>
                    <a:moveTo>
                      <a:pt x="30" y="55"/>
                    </a:moveTo>
                    <a:cubicBezTo>
                      <a:pt x="27" y="51"/>
                      <a:pt x="27" y="51"/>
                      <a:pt x="27" y="51"/>
                    </a:cubicBezTo>
                    <a:cubicBezTo>
                      <a:pt x="22" y="43"/>
                      <a:pt x="22" y="43"/>
                      <a:pt x="22" y="43"/>
                    </a:cubicBezTo>
                    <a:cubicBezTo>
                      <a:pt x="21" y="40"/>
                      <a:pt x="21" y="40"/>
                      <a:pt x="21" y="40"/>
                    </a:cubicBezTo>
                    <a:cubicBezTo>
                      <a:pt x="31" y="28"/>
                      <a:pt x="31" y="28"/>
                      <a:pt x="31" y="28"/>
                    </a:cubicBezTo>
                    <a:cubicBezTo>
                      <a:pt x="30" y="37"/>
                      <a:pt x="30" y="46"/>
                      <a:pt x="30" y="55"/>
                    </a:cubicBezTo>
                    <a:close/>
                    <a:moveTo>
                      <a:pt x="70" y="41"/>
                    </a:moveTo>
                    <a:cubicBezTo>
                      <a:pt x="68" y="39"/>
                      <a:pt x="68" y="39"/>
                      <a:pt x="68" y="39"/>
                    </a:cubicBezTo>
                    <a:cubicBezTo>
                      <a:pt x="82" y="30"/>
                      <a:pt x="82" y="30"/>
                      <a:pt x="82" y="30"/>
                    </a:cubicBezTo>
                    <a:cubicBezTo>
                      <a:pt x="82" y="28"/>
                      <a:pt x="82" y="27"/>
                      <a:pt x="82" y="25"/>
                    </a:cubicBezTo>
                    <a:cubicBezTo>
                      <a:pt x="86" y="28"/>
                      <a:pt x="86" y="28"/>
                      <a:pt x="86" y="28"/>
                    </a:cubicBezTo>
                    <a:cubicBezTo>
                      <a:pt x="88" y="30"/>
                      <a:pt x="88" y="30"/>
                      <a:pt x="88" y="30"/>
                    </a:cubicBezTo>
                    <a:lnTo>
                      <a:pt x="70"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2" name="Freeform 217"/>
              <p:cNvSpPr/>
              <p:nvPr/>
            </p:nvSpPr>
            <p:spPr bwMode="auto">
              <a:xfrm>
                <a:off x="5946775" y="3201988"/>
                <a:ext cx="42863" cy="44450"/>
              </a:xfrm>
              <a:custGeom>
                <a:avLst/>
                <a:gdLst>
                  <a:gd name="T0" fmla="*/ 22 w 27"/>
                  <a:gd name="T1" fmla="*/ 0 h 28"/>
                  <a:gd name="T2" fmla="*/ 27 w 27"/>
                  <a:gd name="T3" fmla="*/ 16 h 28"/>
                  <a:gd name="T4" fmla="*/ 12 w 27"/>
                  <a:gd name="T5" fmla="*/ 28 h 28"/>
                  <a:gd name="T6" fmla="*/ 0 w 27"/>
                  <a:gd name="T7" fmla="*/ 16 h 28"/>
                  <a:gd name="T8" fmla="*/ 5 w 27"/>
                  <a:gd name="T9" fmla="*/ 0 h 28"/>
                  <a:gd name="T10" fmla="*/ 22 w 27"/>
                  <a:gd name="T11" fmla="*/ 0 h 28"/>
                </a:gdLst>
                <a:ahLst/>
                <a:cxnLst>
                  <a:cxn ang="0">
                    <a:pos x="T0" y="T1"/>
                  </a:cxn>
                  <a:cxn ang="0">
                    <a:pos x="T2" y="T3"/>
                  </a:cxn>
                  <a:cxn ang="0">
                    <a:pos x="T4" y="T5"/>
                  </a:cxn>
                  <a:cxn ang="0">
                    <a:pos x="T6" y="T7"/>
                  </a:cxn>
                  <a:cxn ang="0">
                    <a:pos x="T8" y="T9"/>
                  </a:cxn>
                  <a:cxn ang="0">
                    <a:pos x="T10" y="T11"/>
                  </a:cxn>
                </a:cxnLst>
                <a:rect l="0" t="0" r="r" b="b"/>
                <a:pathLst>
                  <a:path w="27" h="28">
                    <a:moveTo>
                      <a:pt x="22" y="0"/>
                    </a:moveTo>
                    <a:lnTo>
                      <a:pt x="27" y="16"/>
                    </a:lnTo>
                    <a:lnTo>
                      <a:pt x="12" y="28"/>
                    </a:lnTo>
                    <a:lnTo>
                      <a:pt x="0" y="16"/>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3" name="Freeform 218"/>
              <p:cNvSpPr/>
              <p:nvPr/>
            </p:nvSpPr>
            <p:spPr bwMode="auto">
              <a:xfrm>
                <a:off x="5946775" y="3232150"/>
                <a:ext cx="42863" cy="185738"/>
              </a:xfrm>
              <a:custGeom>
                <a:avLst/>
                <a:gdLst>
                  <a:gd name="T0" fmla="*/ 22 w 27"/>
                  <a:gd name="T1" fmla="*/ 0 h 117"/>
                  <a:gd name="T2" fmla="*/ 27 w 27"/>
                  <a:gd name="T3" fmla="*/ 105 h 117"/>
                  <a:gd name="T4" fmla="*/ 12 w 27"/>
                  <a:gd name="T5" fmla="*/ 117 h 117"/>
                  <a:gd name="T6" fmla="*/ 0 w 27"/>
                  <a:gd name="T7" fmla="*/ 105 h 117"/>
                  <a:gd name="T8" fmla="*/ 5 w 27"/>
                  <a:gd name="T9" fmla="*/ 0 h 117"/>
                  <a:gd name="T10" fmla="*/ 22 w 27"/>
                  <a:gd name="T11" fmla="*/ 0 h 117"/>
                </a:gdLst>
                <a:ahLst/>
                <a:cxnLst>
                  <a:cxn ang="0">
                    <a:pos x="T0" y="T1"/>
                  </a:cxn>
                  <a:cxn ang="0">
                    <a:pos x="T2" y="T3"/>
                  </a:cxn>
                  <a:cxn ang="0">
                    <a:pos x="T4" y="T5"/>
                  </a:cxn>
                  <a:cxn ang="0">
                    <a:pos x="T6" y="T7"/>
                  </a:cxn>
                  <a:cxn ang="0">
                    <a:pos x="T8" y="T9"/>
                  </a:cxn>
                  <a:cxn ang="0">
                    <a:pos x="T10" y="T11"/>
                  </a:cxn>
                </a:cxnLst>
                <a:rect l="0" t="0" r="r" b="b"/>
                <a:pathLst>
                  <a:path w="27" h="117">
                    <a:moveTo>
                      <a:pt x="22" y="0"/>
                    </a:moveTo>
                    <a:lnTo>
                      <a:pt x="27" y="105"/>
                    </a:lnTo>
                    <a:lnTo>
                      <a:pt x="12" y="117"/>
                    </a:lnTo>
                    <a:lnTo>
                      <a:pt x="0" y="105"/>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grpSp>
        <p:nvGrpSpPr>
          <p:cNvPr id="34" name="组合 33"/>
          <p:cNvGrpSpPr/>
          <p:nvPr/>
        </p:nvGrpSpPr>
        <p:grpSpPr>
          <a:xfrm>
            <a:off x="1275786" y="3824516"/>
            <a:ext cx="342764" cy="342764"/>
            <a:chOff x="4688155" y="5875923"/>
            <a:chExt cx="342764" cy="342764"/>
          </a:xfrm>
        </p:grpSpPr>
        <p:sp>
          <p:nvSpPr>
            <p:cNvPr id="35" name="椭圆 34"/>
            <p:cNvSpPr/>
            <p:nvPr/>
          </p:nvSpPr>
          <p:spPr>
            <a:xfrm>
              <a:off x="4688155" y="5875923"/>
              <a:ext cx="342764" cy="342764"/>
            </a:xfrm>
            <a:prstGeom prst="ellipse">
              <a:avLst/>
            </a:prstGeom>
            <a:solidFill>
              <a:srgbClr val="01206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grpSp>
          <p:nvGrpSpPr>
            <p:cNvPr id="36" name="组合 35"/>
            <p:cNvGrpSpPr/>
            <p:nvPr/>
          </p:nvGrpSpPr>
          <p:grpSpPr>
            <a:xfrm>
              <a:off x="4763028" y="5947390"/>
              <a:ext cx="193018" cy="199830"/>
              <a:chOff x="5753100" y="3041650"/>
              <a:chExt cx="682626" cy="771526"/>
            </a:xfrm>
            <a:solidFill>
              <a:schemeClr val="accent1"/>
            </a:solidFill>
          </p:grpSpPr>
          <p:sp>
            <p:nvSpPr>
              <p:cNvPr id="37" name="Oval 202"/>
              <p:cNvSpPr>
                <a:spLocks noChangeArrowheads="1"/>
              </p:cNvSpPr>
              <p:nvPr/>
            </p:nvSpPr>
            <p:spPr bwMode="auto">
              <a:xfrm>
                <a:off x="5908675" y="3041650"/>
                <a:ext cx="119063" cy="1476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8" name="Freeform 203"/>
              <p:cNvSpPr/>
              <p:nvPr/>
            </p:nvSpPr>
            <p:spPr bwMode="auto">
              <a:xfrm>
                <a:off x="6103938" y="3413125"/>
                <a:ext cx="46038" cy="84138"/>
              </a:xfrm>
              <a:custGeom>
                <a:avLst/>
                <a:gdLst>
                  <a:gd name="T0" fmla="*/ 2 w 12"/>
                  <a:gd name="T1" fmla="*/ 22 h 22"/>
                  <a:gd name="T2" fmla="*/ 10 w 12"/>
                  <a:gd name="T3" fmla="*/ 22 h 22"/>
                  <a:gd name="T4" fmla="*/ 12 w 12"/>
                  <a:gd name="T5" fmla="*/ 20 h 22"/>
                  <a:gd name="T6" fmla="*/ 12 w 12"/>
                  <a:gd name="T7" fmla="*/ 2 h 22"/>
                  <a:gd name="T8" fmla="*/ 10 w 12"/>
                  <a:gd name="T9" fmla="*/ 0 h 22"/>
                  <a:gd name="T10" fmla="*/ 2 w 12"/>
                  <a:gd name="T11" fmla="*/ 0 h 22"/>
                  <a:gd name="T12" fmla="*/ 0 w 12"/>
                  <a:gd name="T13" fmla="*/ 2 h 22"/>
                  <a:gd name="T14" fmla="*/ 0 w 12"/>
                  <a:gd name="T15" fmla="*/ 20 h 22"/>
                  <a:gd name="T16" fmla="*/ 2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2" y="22"/>
                    </a:moveTo>
                    <a:cubicBezTo>
                      <a:pt x="10" y="22"/>
                      <a:pt x="10" y="22"/>
                      <a:pt x="10" y="22"/>
                    </a:cubicBezTo>
                    <a:cubicBezTo>
                      <a:pt x="11" y="22"/>
                      <a:pt x="12" y="21"/>
                      <a:pt x="12" y="20"/>
                    </a:cubicBezTo>
                    <a:cubicBezTo>
                      <a:pt x="12" y="2"/>
                      <a:pt x="12" y="2"/>
                      <a:pt x="12" y="2"/>
                    </a:cubicBezTo>
                    <a:cubicBezTo>
                      <a:pt x="12" y="1"/>
                      <a:pt x="11" y="0"/>
                      <a:pt x="10" y="0"/>
                    </a:cubicBezTo>
                    <a:cubicBezTo>
                      <a:pt x="2" y="0"/>
                      <a:pt x="2" y="0"/>
                      <a:pt x="2" y="0"/>
                    </a:cubicBezTo>
                    <a:cubicBezTo>
                      <a:pt x="1" y="0"/>
                      <a:pt x="0" y="1"/>
                      <a:pt x="0" y="2"/>
                    </a:cubicBezTo>
                    <a:cubicBezTo>
                      <a:pt x="0" y="20"/>
                      <a:pt x="0" y="20"/>
                      <a:pt x="0" y="20"/>
                    </a:cubicBezTo>
                    <a:cubicBezTo>
                      <a:pt x="0" y="21"/>
                      <a:pt x="1" y="22"/>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9" name="Freeform 204"/>
              <p:cNvSpPr/>
              <p:nvPr/>
            </p:nvSpPr>
            <p:spPr bwMode="auto">
              <a:xfrm>
                <a:off x="6313488" y="3413125"/>
                <a:ext cx="46038" cy="84138"/>
              </a:xfrm>
              <a:custGeom>
                <a:avLst/>
                <a:gdLst>
                  <a:gd name="T0" fmla="*/ 3 w 12"/>
                  <a:gd name="T1" fmla="*/ 22 h 22"/>
                  <a:gd name="T2" fmla="*/ 10 w 12"/>
                  <a:gd name="T3" fmla="*/ 22 h 22"/>
                  <a:gd name="T4" fmla="*/ 12 w 12"/>
                  <a:gd name="T5" fmla="*/ 20 h 22"/>
                  <a:gd name="T6" fmla="*/ 12 w 12"/>
                  <a:gd name="T7" fmla="*/ 2 h 22"/>
                  <a:gd name="T8" fmla="*/ 10 w 12"/>
                  <a:gd name="T9" fmla="*/ 0 h 22"/>
                  <a:gd name="T10" fmla="*/ 3 w 12"/>
                  <a:gd name="T11" fmla="*/ 0 h 22"/>
                  <a:gd name="T12" fmla="*/ 0 w 12"/>
                  <a:gd name="T13" fmla="*/ 2 h 22"/>
                  <a:gd name="T14" fmla="*/ 0 w 12"/>
                  <a:gd name="T15" fmla="*/ 20 h 22"/>
                  <a:gd name="T16" fmla="*/ 3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3" y="22"/>
                    </a:moveTo>
                    <a:cubicBezTo>
                      <a:pt x="10" y="22"/>
                      <a:pt x="10" y="22"/>
                      <a:pt x="10" y="22"/>
                    </a:cubicBezTo>
                    <a:cubicBezTo>
                      <a:pt x="12" y="22"/>
                      <a:pt x="12" y="21"/>
                      <a:pt x="12" y="20"/>
                    </a:cubicBezTo>
                    <a:cubicBezTo>
                      <a:pt x="12" y="2"/>
                      <a:pt x="12" y="2"/>
                      <a:pt x="12" y="2"/>
                    </a:cubicBezTo>
                    <a:cubicBezTo>
                      <a:pt x="12" y="1"/>
                      <a:pt x="12" y="0"/>
                      <a:pt x="10" y="0"/>
                    </a:cubicBezTo>
                    <a:cubicBezTo>
                      <a:pt x="3" y="0"/>
                      <a:pt x="3" y="0"/>
                      <a:pt x="3" y="0"/>
                    </a:cubicBezTo>
                    <a:cubicBezTo>
                      <a:pt x="1" y="0"/>
                      <a:pt x="0" y="1"/>
                      <a:pt x="0" y="2"/>
                    </a:cubicBezTo>
                    <a:cubicBezTo>
                      <a:pt x="0" y="20"/>
                      <a:pt x="0" y="20"/>
                      <a:pt x="0" y="20"/>
                    </a:cubicBezTo>
                    <a:cubicBezTo>
                      <a:pt x="0" y="21"/>
                      <a:pt x="1" y="22"/>
                      <a:pt x="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0" name="Freeform 205"/>
              <p:cNvSpPr>
                <a:spLocks noEditPoints="1"/>
              </p:cNvSpPr>
              <p:nvPr/>
            </p:nvSpPr>
            <p:spPr bwMode="auto">
              <a:xfrm>
                <a:off x="6030913" y="3444875"/>
                <a:ext cx="404813" cy="360363"/>
              </a:xfrm>
              <a:custGeom>
                <a:avLst/>
                <a:gdLst>
                  <a:gd name="T0" fmla="*/ 94 w 106"/>
                  <a:gd name="T1" fmla="*/ 0 h 95"/>
                  <a:gd name="T2" fmla="*/ 91 w 106"/>
                  <a:gd name="T3" fmla="*/ 0 h 95"/>
                  <a:gd name="T4" fmla="*/ 91 w 106"/>
                  <a:gd name="T5" fmla="*/ 12 h 95"/>
                  <a:gd name="T6" fmla="*/ 84 w 106"/>
                  <a:gd name="T7" fmla="*/ 18 h 95"/>
                  <a:gd name="T8" fmla="*/ 77 w 106"/>
                  <a:gd name="T9" fmla="*/ 18 h 95"/>
                  <a:gd name="T10" fmla="*/ 70 w 106"/>
                  <a:gd name="T11" fmla="*/ 12 h 95"/>
                  <a:gd name="T12" fmla="*/ 70 w 106"/>
                  <a:gd name="T13" fmla="*/ 0 h 95"/>
                  <a:gd name="T14" fmla="*/ 36 w 106"/>
                  <a:gd name="T15" fmla="*/ 0 h 95"/>
                  <a:gd name="T16" fmla="*/ 36 w 106"/>
                  <a:gd name="T17" fmla="*/ 12 h 95"/>
                  <a:gd name="T18" fmla="*/ 29 w 106"/>
                  <a:gd name="T19" fmla="*/ 18 h 95"/>
                  <a:gd name="T20" fmla="*/ 21 w 106"/>
                  <a:gd name="T21" fmla="*/ 18 h 95"/>
                  <a:gd name="T22" fmla="*/ 15 w 106"/>
                  <a:gd name="T23" fmla="*/ 12 h 95"/>
                  <a:gd name="T24" fmla="*/ 15 w 106"/>
                  <a:gd name="T25" fmla="*/ 0 h 95"/>
                  <a:gd name="T26" fmla="*/ 12 w 106"/>
                  <a:gd name="T27" fmla="*/ 0 h 95"/>
                  <a:gd name="T28" fmla="*/ 0 w 106"/>
                  <a:gd name="T29" fmla="*/ 13 h 95"/>
                  <a:gd name="T30" fmla="*/ 0 w 106"/>
                  <a:gd name="T31" fmla="*/ 36 h 95"/>
                  <a:gd name="T32" fmla="*/ 0 w 106"/>
                  <a:gd name="T33" fmla="*/ 83 h 95"/>
                  <a:gd name="T34" fmla="*/ 12 w 106"/>
                  <a:gd name="T35" fmla="*/ 95 h 95"/>
                  <a:gd name="T36" fmla="*/ 94 w 106"/>
                  <a:gd name="T37" fmla="*/ 95 h 95"/>
                  <a:gd name="T38" fmla="*/ 106 w 106"/>
                  <a:gd name="T39" fmla="*/ 83 h 95"/>
                  <a:gd name="T40" fmla="*/ 106 w 106"/>
                  <a:gd name="T41" fmla="*/ 36 h 95"/>
                  <a:gd name="T42" fmla="*/ 106 w 106"/>
                  <a:gd name="T43" fmla="*/ 13 h 95"/>
                  <a:gd name="T44" fmla="*/ 94 w 106"/>
                  <a:gd name="T45" fmla="*/ 0 h 95"/>
                  <a:gd name="T46" fmla="*/ 98 w 106"/>
                  <a:gd name="T47" fmla="*/ 83 h 95"/>
                  <a:gd name="T48" fmla="*/ 94 w 106"/>
                  <a:gd name="T49" fmla="*/ 88 h 95"/>
                  <a:gd name="T50" fmla="*/ 12 w 106"/>
                  <a:gd name="T51" fmla="*/ 88 h 95"/>
                  <a:gd name="T52" fmla="*/ 8 w 106"/>
                  <a:gd name="T53" fmla="*/ 83 h 95"/>
                  <a:gd name="T54" fmla="*/ 8 w 106"/>
                  <a:gd name="T55" fmla="*/ 36 h 95"/>
                  <a:gd name="T56" fmla="*/ 98 w 106"/>
                  <a:gd name="T57" fmla="*/ 36 h 95"/>
                  <a:gd name="T58" fmla="*/ 98 w 106"/>
                  <a:gd name="T59" fmla="*/ 8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95">
                    <a:moveTo>
                      <a:pt x="94" y="0"/>
                    </a:moveTo>
                    <a:cubicBezTo>
                      <a:pt x="91" y="0"/>
                      <a:pt x="91" y="0"/>
                      <a:pt x="91" y="0"/>
                    </a:cubicBezTo>
                    <a:cubicBezTo>
                      <a:pt x="91" y="12"/>
                      <a:pt x="91" y="12"/>
                      <a:pt x="91" y="12"/>
                    </a:cubicBezTo>
                    <a:cubicBezTo>
                      <a:pt x="91" y="15"/>
                      <a:pt x="88" y="18"/>
                      <a:pt x="84" y="18"/>
                    </a:cubicBezTo>
                    <a:cubicBezTo>
                      <a:pt x="77" y="18"/>
                      <a:pt x="77" y="18"/>
                      <a:pt x="77" y="18"/>
                    </a:cubicBezTo>
                    <a:cubicBezTo>
                      <a:pt x="73" y="18"/>
                      <a:pt x="70" y="15"/>
                      <a:pt x="70" y="12"/>
                    </a:cubicBezTo>
                    <a:cubicBezTo>
                      <a:pt x="70" y="0"/>
                      <a:pt x="70" y="0"/>
                      <a:pt x="70" y="0"/>
                    </a:cubicBezTo>
                    <a:cubicBezTo>
                      <a:pt x="36" y="0"/>
                      <a:pt x="36" y="0"/>
                      <a:pt x="36" y="0"/>
                    </a:cubicBezTo>
                    <a:cubicBezTo>
                      <a:pt x="36" y="12"/>
                      <a:pt x="36" y="12"/>
                      <a:pt x="36" y="12"/>
                    </a:cubicBezTo>
                    <a:cubicBezTo>
                      <a:pt x="36" y="15"/>
                      <a:pt x="33" y="18"/>
                      <a:pt x="29" y="18"/>
                    </a:cubicBezTo>
                    <a:cubicBezTo>
                      <a:pt x="21" y="18"/>
                      <a:pt x="21" y="18"/>
                      <a:pt x="21" y="18"/>
                    </a:cubicBezTo>
                    <a:cubicBezTo>
                      <a:pt x="18" y="18"/>
                      <a:pt x="15" y="15"/>
                      <a:pt x="15" y="12"/>
                    </a:cubicBezTo>
                    <a:cubicBezTo>
                      <a:pt x="15" y="0"/>
                      <a:pt x="15" y="0"/>
                      <a:pt x="15" y="0"/>
                    </a:cubicBezTo>
                    <a:cubicBezTo>
                      <a:pt x="12" y="0"/>
                      <a:pt x="12" y="0"/>
                      <a:pt x="12" y="0"/>
                    </a:cubicBezTo>
                    <a:cubicBezTo>
                      <a:pt x="5" y="0"/>
                      <a:pt x="0" y="6"/>
                      <a:pt x="0" y="13"/>
                    </a:cubicBezTo>
                    <a:cubicBezTo>
                      <a:pt x="0" y="36"/>
                      <a:pt x="0" y="36"/>
                      <a:pt x="0" y="36"/>
                    </a:cubicBezTo>
                    <a:cubicBezTo>
                      <a:pt x="0" y="83"/>
                      <a:pt x="0" y="83"/>
                      <a:pt x="0" y="83"/>
                    </a:cubicBezTo>
                    <a:cubicBezTo>
                      <a:pt x="0" y="90"/>
                      <a:pt x="5" y="95"/>
                      <a:pt x="12" y="95"/>
                    </a:cubicBezTo>
                    <a:cubicBezTo>
                      <a:pt x="94" y="95"/>
                      <a:pt x="94" y="95"/>
                      <a:pt x="94" y="95"/>
                    </a:cubicBezTo>
                    <a:cubicBezTo>
                      <a:pt x="100" y="95"/>
                      <a:pt x="106" y="90"/>
                      <a:pt x="106" y="83"/>
                    </a:cubicBezTo>
                    <a:cubicBezTo>
                      <a:pt x="106" y="36"/>
                      <a:pt x="106" y="36"/>
                      <a:pt x="106" y="36"/>
                    </a:cubicBezTo>
                    <a:cubicBezTo>
                      <a:pt x="106" y="13"/>
                      <a:pt x="106" y="13"/>
                      <a:pt x="106" y="13"/>
                    </a:cubicBezTo>
                    <a:cubicBezTo>
                      <a:pt x="106" y="6"/>
                      <a:pt x="100" y="0"/>
                      <a:pt x="94" y="0"/>
                    </a:cubicBezTo>
                    <a:close/>
                    <a:moveTo>
                      <a:pt x="98" y="83"/>
                    </a:moveTo>
                    <a:cubicBezTo>
                      <a:pt x="98" y="86"/>
                      <a:pt x="96" y="88"/>
                      <a:pt x="94" y="88"/>
                    </a:cubicBezTo>
                    <a:cubicBezTo>
                      <a:pt x="12" y="88"/>
                      <a:pt x="12" y="88"/>
                      <a:pt x="12" y="88"/>
                    </a:cubicBezTo>
                    <a:cubicBezTo>
                      <a:pt x="10" y="88"/>
                      <a:pt x="8" y="86"/>
                      <a:pt x="8" y="83"/>
                    </a:cubicBezTo>
                    <a:cubicBezTo>
                      <a:pt x="8" y="36"/>
                      <a:pt x="8" y="36"/>
                      <a:pt x="8" y="36"/>
                    </a:cubicBezTo>
                    <a:cubicBezTo>
                      <a:pt x="98" y="36"/>
                      <a:pt x="98" y="36"/>
                      <a:pt x="98" y="36"/>
                    </a:cubicBezTo>
                    <a:lnTo>
                      <a:pt x="98"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1" name="Rectangle 206"/>
              <p:cNvSpPr>
                <a:spLocks noChangeArrowheads="1"/>
              </p:cNvSpPr>
              <p:nvPr/>
            </p:nvSpPr>
            <p:spPr bwMode="auto">
              <a:xfrm>
                <a:off x="608488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2" name="Rectangle 207"/>
              <p:cNvSpPr>
                <a:spLocks noChangeArrowheads="1"/>
              </p:cNvSpPr>
              <p:nvPr/>
            </p:nvSpPr>
            <p:spPr bwMode="auto">
              <a:xfrm>
                <a:off x="6191250"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3" name="Rectangle 208"/>
              <p:cNvSpPr>
                <a:spLocks noChangeArrowheads="1"/>
              </p:cNvSpPr>
              <p:nvPr/>
            </p:nvSpPr>
            <p:spPr bwMode="auto">
              <a:xfrm>
                <a:off x="629443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4" name="Rectangle 209"/>
              <p:cNvSpPr>
                <a:spLocks noChangeArrowheads="1"/>
              </p:cNvSpPr>
              <p:nvPr/>
            </p:nvSpPr>
            <p:spPr bwMode="auto">
              <a:xfrm>
                <a:off x="608488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5" name="Rectangle 210"/>
              <p:cNvSpPr>
                <a:spLocks noChangeArrowheads="1"/>
              </p:cNvSpPr>
              <p:nvPr/>
            </p:nvSpPr>
            <p:spPr bwMode="auto">
              <a:xfrm>
                <a:off x="6191250"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6" name="Rectangle 211"/>
              <p:cNvSpPr>
                <a:spLocks noChangeArrowheads="1"/>
              </p:cNvSpPr>
              <p:nvPr/>
            </p:nvSpPr>
            <p:spPr bwMode="auto">
              <a:xfrm>
                <a:off x="629443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7" name="Rectangle 212"/>
              <p:cNvSpPr>
                <a:spLocks noChangeArrowheads="1"/>
              </p:cNvSpPr>
              <p:nvPr/>
            </p:nvSpPr>
            <p:spPr bwMode="auto">
              <a:xfrm>
                <a:off x="608488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8" name="Rectangle 213"/>
              <p:cNvSpPr>
                <a:spLocks noChangeArrowheads="1"/>
              </p:cNvSpPr>
              <p:nvPr/>
            </p:nvSpPr>
            <p:spPr bwMode="auto">
              <a:xfrm>
                <a:off x="6191250"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9" name="Rectangle 214"/>
              <p:cNvSpPr>
                <a:spLocks noChangeArrowheads="1"/>
              </p:cNvSpPr>
              <p:nvPr/>
            </p:nvSpPr>
            <p:spPr bwMode="auto">
              <a:xfrm>
                <a:off x="629443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50" name="Rectangle 215"/>
              <p:cNvSpPr>
                <a:spLocks noChangeArrowheads="1"/>
              </p:cNvSpPr>
              <p:nvPr/>
            </p:nvSpPr>
            <p:spPr bwMode="auto">
              <a:xfrm>
                <a:off x="5965825" y="339883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51" name="Freeform 216"/>
              <p:cNvSpPr>
                <a:spLocks noEditPoints="1"/>
              </p:cNvSpPr>
              <p:nvPr/>
            </p:nvSpPr>
            <p:spPr bwMode="auto">
              <a:xfrm>
                <a:off x="5753100" y="3208338"/>
                <a:ext cx="427038" cy="604838"/>
              </a:xfrm>
              <a:custGeom>
                <a:avLst/>
                <a:gdLst>
                  <a:gd name="T0" fmla="*/ 111 w 112"/>
                  <a:gd name="T1" fmla="*/ 23 h 159"/>
                  <a:gd name="T2" fmla="*/ 106 w 112"/>
                  <a:gd name="T3" fmla="*/ 19 h 159"/>
                  <a:gd name="T4" fmla="*/ 83 w 112"/>
                  <a:gd name="T5" fmla="*/ 2 h 159"/>
                  <a:gd name="T6" fmla="*/ 77 w 112"/>
                  <a:gd name="T7" fmla="*/ 0 h 159"/>
                  <a:gd name="T8" fmla="*/ 70 w 112"/>
                  <a:gd name="T9" fmla="*/ 0 h 159"/>
                  <a:gd name="T10" fmla="*/ 68 w 112"/>
                  <a:gd name="T11" fmla="*/ 10 h 159"/>
                  <a:gd name="T12" fmla="*/ 56 w 112"/>
                  <a:gd name="T13" fmla="*/ 50 h 159"/>
                  <a:gd name="T14" fmla="*/ 56 w 112"/>
                  <a:gd name="T15" fmla="*/ 51 h 159"/>
                  <a:gd name="T16" fmla="*/ 56 w 112"/>
                  <a:gd name="T17" fmla="*/ 50 h 159"/>
                  <a:gd name="T18" fmla="*/ 45 w 112"/>
                  <a:gd name="T19" fmla="*/ 10 h 159"/>
                  <a:gd name="T20" fmla="*/ 43 w 112"/>
                  <a:gd name="T21" fmla="*/ 0 h 159"/>
                  <a:gd name="T22" fmla="*/ 35 w 112"/>
                  <a:gd name="T23" fmla="*/ 0 h 159"/>
                  <a:gd name="T24" fmla="*/ 28 w 112"/>
                  <a:gd name="T25" fmla="*/ 4 h 159"/>
                  <a:gd name="T26" fmla="*/ 0 w 112"/>
                  <a:gd name="T27" fmla="*/ 44 h 159"/>
                  <a:gd name="T28" fmla="*/ 0 w 112"/>
                  <a:gd name="T29" fmla="*/ 44 h 159"/>
                  <a:gd name="T30" fmla="*/ 0 w 112"/>
                  <a:gd name="T31" fmla="*/ 45 h 159"/>
                  <a:gd name="T32" fmla="*/ 2 w 112"/>
                  <a:gd name="T33" fmla="*/ 48 h 159"/>
                  <a:gd name="T34" fmla="*/ 9 w 112"/>
                  <a:gd name="T35" fmla="*/ 61 h 159"/>
                  <a:gd name="T36" fmla="*/ 29 w 112"/>
                  <a:gd name="T37" fmla="*/ 72 h 159"/>
                  <a:gd name="T38" fmla="*/ 29 w 112"/>
                  <a:gd name="T39" fmla="*/ 84 h 159"/>
                  <a:gd name="T40" fmla="*/ 34 w 112"/>
                  <a:gd name="T41" fmla="*/ 159 h 159"/>
                  <a:gd name="T42" fmla="*/ 55 w 112"/>
                  <a:gd name="T43" fmla="*/ 84 h 159"/>
                  <a:gd name="T44" fmla="*/ 60 w 112"/>
                  <a:gd name="T45" fmla="*/ 159 h 159"/>
                  <a:gd name="T46" fmla="*/ 67 w 112"/>
                  <a:gd name="T47" fmla="*/ 145 h 159"/>
                  <a:gd name="T48" fmla="*/ 76 w 112"/>
                  <a:gd name="T49" fmla="*/ 59 h 159"/>
                  <a:gd name="T50" fmla="*/ 110 w 112"/>
                  <a:gd name="T51" fmla="*/ 41 h 159"/>
                  <a:gd name="T52" fmla="*/ 112 w 112"/>
                  <a:gd name="T53" fmla="*/ 24 h 159"/>
                  <a:gd name="T54" fmla="*/ 27 w 112"/>
                  <a:gd name="T55" fmla="*/ 51 h 159"/>
                  <a:gd name="T56" fmla="*/ 21 w 112"/>
                  <a:gd name="T57" fmla="*/ 40 h 159"/>
                  <a:gd name="T58" fmla="*/ 30 w 112"/>
                  <a:gd name="T59" fmla="*/ 55 h 159"/>
                  <a:gd name="T60" fmla="*/ 68 w 112"/>
                  <a:gd name="T61" fmla="*/ 39 h 159"/>
                  <a:gd name="T62" fmla="*/ 82 w 112"/>
                  <a:gd name="T63" fmla="*/ 25 h 159"/>
                  <a:gd name="T64" fmla="*/ 88 w 112"/>
                  <a:gd name="T6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59">
                    <a:moveTo>
                      <a:pt x="112" y="24"/>
                    </a:moveTo>
                    <a:cubicBezTo>
                      <a:pt x="111" y="23"/>
                      <a:pt x="111" y="23"/>
                      <a:pt x="111" y="23"/>
                    </a:cubicBezTo>
                    <a:cubicBezTo>
                      <a:pt x="110" y="22"/>
                      <a:pt x="110" y="22"/>
                      <a:pt x="110" y="22"/>
                    </a:cubicBezTo>
                    <a:cubicBezTo>
                      <a:pt x="106" y="19"/>
                      <a:pt x="106" y="19"/>
                      <a:pt x="106" y="19"/>
                    </a:cubicBezTo>
                    <a:cubicBezTo>
                      <a:pt x="98" y="13"/>
                      <a:pt x="98" y="13"/>
                      <a:pt x="98" y="13"/>
                    </a:cubicBezTo>
                    <a:cubicBezTo>
                      <a:pt x="83" y="2"/>
                      <a:pt x="83" y="2"/>
                      <a:pt x="83" y="2"/>
                    </a:cubicBezTo>
                    <a:cubicBezTo>
                      <a:pt x="81" y="1"/>
                      <a:pt x="80" y="0"/>
                      <a:pt x="78" y="0"/>
                    </a:cubicBezTo>
                    <a:cubicBezTo>
                      <a:pt x="78" y="0"/>
                      <a:pt x="78" y="0"/>
                      <a:pt x="77" y="0"/>
                    </a:cubicBezTo>
                    <a:cubicBezTo>
                      <a:pt x="75" y="0"/>
                      <a:pt x="72" y="0"/>
                      <a:pt x="70" y="0"/>
                    </a:cubicBezTo>
                    <a:cubicBezTo>
                      <a:pt x="70" y="0"/>
                      <a:pt x="70" y="0"/>
                      <a:pt x="70" y="0"/>
                    </a:cubicBezTo>
                    <a:cubicBezTo>
                      <a:pt x="76" y="5"/>
                      <a:pt x="76" y="5"/>
                      <a:pt x="76" y="5"/>
                    </a:cubicBezTo>
                    <a:cubicBezTo>
                      <a:pt x="68" y="10"/>
                      <a:pt x="68" y="10"/>
                      <a:pt x="68" y="10"/>
                    </a:cubicBezTo>
                    <a:cubicBezTo>
                      <a:pt x="72" y="16"/>
                      <a:pt x="72" y="16"/>
                      <a:pt x="72" y="16"/>
                    </a:cubicBezTo>
                    <a:cubicBezTo>
                      <a:pt x="56" y="50"/>
                      <a:pt x="56" y="50"/>
                      <a:pt x="56" y="50"/>
                    </a:cubicBezTo>
                    <a:cubicBezTo>
                      <a:pt x="57" y="51"/>
                      <a:pt x="57" y="51"/>
                      <a:pt x="57" y="51"/>
                    </a:cubicBezTo>
                    <a:cubicBezTo>
                      <a:pt x="56" y="51"/>
                      <a:pt x="56" y="51"/>
                      <a:pt x="56" y="51"/>
                    </a:cubicBezTo>
                    <a:cubicBezTo>
                      <a:pt x="56" y="51"/>
                      <a:pt x="56" y="51"/>
                      <a:pt x="56" y="51"/>
                    </a:cubicBezTo>
                    <a:cubicBezTo>
                      <a:pt x="56" y="50"/>
                      <a:pt x="56" y="50"/>
                      <a:pt x="56" y="50"/>
                    </a:cubicBezTo>
                    <a:cubicBezTo>
                      <a:pt x="41" y="16"/>
                      <a:pt x="41" y="16"/>
                      <a:pt x="41" y="16"/>
                    </a:cubicBezTo>
                    <a:cubicBezTo>
                      <a:pt x="45" y="10"/>
                      <a:pt x="45" y="10"/>
                      <a:pt x="45" y="10"/>
                    </a:cubicBezTo>
                    <a:cubicBezTo>
                      <a:pt x="36" y="5"/>
                      <a:pt x="36" y="5"/>
                      <a:pt x="36" y="5"/>
                    </a:cubicBezTo>
                    <a:cubicBezTo>
                      <a:pt x="43" y="0"/>
                      <a:pt x="43" y="0"/>
                      <a:pt x="43" y="0"/>
                    </a:cubicBezTo>
                    <a:cubicBezTo>
                      <a:pt x="43" y="0"/>
                      <a:pt x="43" y="0"/>
                      <a:pt x="43" y="0"/>
                    </a:cubicBezTo>
                    <a:cubicBezTo>
                      <a:pt x="41" y="0"/>
                      <a:pt x="38" y="0"/>
                      <a:pt x="35" y="0"/>
                    </a:cubicBezTo>
                    <a:cubicBezTo>
                      <a:pt x="35" y="0"/>
                      <a:pt x="35" y="0"/>
                      <a:pt x="35" y="0"/>
                    </a:cubicBezTo>
                    <a:cubicBezTo>
                      <a:pt x="32" y="1"/>
                      <a:pt x="30" y="2"/>
                      <a:pt x="28" y="4"/>
                    </a:cubicBezTo>
                    <a:cubicBezTo>
                      <a:pt x="1" y="32"/>
                      <a:pt x="1" y="32"/>
                      <a:pt x="1" y="32"/>
                    </a:cubicBezTo>
                    <a:cubicBezTo>
                      <a:pt x="0" y="44"/>
                      <a:pt x="0" y="44"/>
                      <a:pt x="0" y="44"/>
                    </a:cubicBezTo>
                    <a:cubicBezTo>
                      <a:pt x="0" y="44"/>
                      <a:pt x="0" y="44"/>
                      <a:pt x="0" y="44"/>
                    </a:cubicBezTo>
                    <a:cubicBezTo>
                      <a:pt x="0" y="44"/>
                      <a:pt x="0" y="44"/>
                      <a:pt x="0" y="44"/>
                    </a:cubicBezTo>
                    <a:cubicBezTo>
                      <a:pt x="0" y="44"/>
                      <a:pt x="0" y="44"/>
                      <a:pt x="0" y="44"/>
                    </a:cubicBezTo>
                    <a:cubicBezTo>
                      <a:pt x="0" y="45"/>
                      <a:pt x="0" y="45"/>
                      <a:pt x="0" y="45"/>
                    </a:cubicBezTo>
                    <a:cubicBezTo>
                      <a:pt x="1" y="46"/>
                      <a:pt x="1" y="46"/>
                      <a:pt x="1" y="46"/>
                    </a:cubicBezTo>
                    <a:cubicBezTo>
                      <a:pt x="2" y="48"/>
                      <a:pt x="2" y="48"/>
                      <a:pt x="2" y="48"/>
                    </a:cubicBezTo>
                    <a:cubicBezTo>
                      <a:pt x="4" y="52"/>
                      <a:pt x="4" y="52"/>
                      <a:pt x="4" y="52"/>
                    </a:cubicBezTo>
                    <a:cubicBezTo>
                      <a:pt x="9" y="61"/>
                      <a:pt x="9" y="61"/>
                      <a:pt x="9" y="61"/>
                    </a:cubicBezTo>
                    <a:cubicBezTo>
                      <a:pt x="18" y="78"/>
                      <a:pt x="18" y="78"/>
                      <a:pt x="18" y="78"/>
                    </a:cubicBezTo>
                    <a:cubicBezTo>
                      <a:pt x="22" y="76"/>
                      <a:pt x="26" y="74"/>
                      <a:pt x="29" y="72"/>
                    </a:cubicBezTo>
                    <a:cubicBezTo>
                      <a:pt x="29" y="76"/>
                      <a:pt x="29" y="80"/>
                      <a:pt x="29" y="83"/>
                    </a:cubicBezTo>
                    <a:cubicBezTo>
                      <a:pt x="29" y="83"/>
                      <a:pt x="29" y="84"/>
                      <a:pt x="29" y="84"/>
                    </a:cubicBezTo>
                    <a:cubicBezTo>
                      <a:pt x="30" y="84"/>
                      <a:pt x="31" y="84"/>
                      <a:pt x="31" y="84"/>
                    </a:cubicBezTo>
                    <a:cubicBezTo>
                      <a:pt x="34" y="159"/>
                      <a:pt x="34" y="159"/>
                      <a:pt x="34" y="159"/>
                    </a:cubicBezTo>
                    <a:cubicBezTo>
                      <a:pt x="55" y="159"/>
                      <a:pt x="55" y="159"/>
                      <a:pt x="55" y="159"/>
                    </a:cubicBezTo>
                    <a:cubicBezTo>
                      <a:pt x="56" y="137"/>
                      <a:pt x="56" y="99"/>
                      <a:pt x="55" y="84"/>
                    </a:cubicBezTo>
                    <a:cubicBezTo>
                      <a:pt x="56" y="84"/>
                      <a:pt x="57" y="84"/>
                      <a:pt x="58" y="84"/>
                    </a:cubicBezTo>
                    <a:cubicBezTo>
                      <a:pt x="60" y="159"/>
                      <a:pt x="60" y="159"/>
                      <a:pt x="60" y="159"/>
                    </a:cubicBezTo>
                    <a:cubicBezTo>
                      <a:pt x="74" y="159"/>
                      <a:pt x="74" y="159"/>
                      <a:pt x="74" y="159"/>
                    </a:cubicBezTo>
                    <a:cubicBezTo>
                      <a:pt x="70" y="156"/>
                      <a:pt x="67" y="151"/>
                      <a:pt x="67" y="145"/>
                    </a:cubicBezTo>
                    <a:cubicBezTo>
                      <a:pt x="67" y="75"/>
                      <a:pt x="67" y="75"/>
                      <a:pt x="67" y="75"/>
                    </a:cubicBezTo>
                    <a:cubicBezTo>
                      <a:pt x="67" y="68"/>
                      <a:pt x="71" y="62"/>
                      <a:pt x="76" y="59"/>
                    </a:cubicBezTo>
                    <a:cubicBezTo>
                      <a:pt x="77" y="60"/>
                      <a:pt x="78" y="61"/>
                      <a:pt x="78" y="62"/>
                    </a:cubicBezTo>
                    <a:cubicBezTo>
                      <a:pt x="110" y="41"/>
                      <a:pt x="110" y="41"/>
                      <a:pt x="110" y="41"/>
                    </a:cubicBezTo>
                    <a:cubicBezTo>
                      <a:pt x="111" y="40"/>
                      <a:pt x="111" y="40"/>
                      <a:pt x="111" y="40"/>
                    </a:cubicBezTo>
                    <a:lnTo>
                      <a:pt x="112" y="24"/>
                    </a:lnTo>
                    <a:close/>
                    <a:moveTo>
                      <a:pt x="30" y="55"/>
                    </a:moveTo>
                    <a:cubicBezTo>
                      <a:pt x="27" y="51"/>
                      <a:pt x="27" y="51"/>
                      <a:pt x="27" y="51"/>
                    </a:cubicBezTo>
                    <a:cubicBezTo>
                      <a:pt x="22" y="43"/>
                      <a:pt x="22" y="43"/>
                      <a:pt x="22" y="43"/>
                    </a:cubicBezTo>
                    <a:cubicBezTo>
                      <a:pt x="21" y="40"/>
                      <a:pt x="21" y="40"/>
                      <a:pt x="21" y="40"/>
                    </a:cubicBezTo>
                    <a:cubicBezTo>
                      <a:pt x="31" y="28"/>
                      <a:pt x="31" y="28"/>
                      <a:pt x="31" y="28"/>
                    </a:cubicBezTo>
                    <a:cubicBezTo>
                      <a:pt x="30" y="37"/>
                      <a:pt x="30" y="46"/>
                      <a:pt x="30" y="55"/>
                    </a:cubicBezTo>
                    <a:close/>
                    <a:moveTo>
                      <a:pt x="70" y="41"/>
                    </a:moveTo>
                    <a:cubicBezTo>
                      <a:pt x="68" y="39"/>
                      <a:pt x="68" y="39"/>
                      <a:pt x="68" y="39"/>
                    </a:cubicBezTo>
                    <a:cubicBezTo>
                      <a:pt x="82" y="30"/>
                      <a:pt x="82" y="30"/>
                      <a:pt x="82" y="30"/>
                    </a:cubicBezTo>
                    <a:cubicBezTo>
                      <a:pt x="82" y="28"/>
                      <a:pt x="82" y="27"/>
                      <a:pt x="82" y="25"/>
                    </a:cubicBezTo>
                    <a:cubicBezTo>
                      <a:pt x="86" y="28"/>
                      <a:pt x="86" y="28"/>
                      <a:pt x="86" y="28"/>
                    </a:cubicBezTo>
                    <a:cubicBezTo>
                      <a:pt x="88" y="30"/>
                      <a:pt x="88" y="30"/>
                      <a:pt x="88" y="30"/>
                    </a:cubicBezTo>
                    <a:lnTo>
                      <a:pt x="70"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52" name="Freeform 217"/>
              <p:cNvSpPr/>
              <p:nvPr/>
            </p:nvSpPr>
            <p:spPr bwMode="auto">
              <a:xfrm>
                <a:off x="5946775" y="3201988"/>
                <a:ext cx="42863" cy="44450"/>
              </a:xfrm>
              <a:custGeom>
                <a:avLst/>
                <a:gdLst>
                  <a:gd name="T0" fmla="*/ 22 w 27"/>
                  <a:gd name="T1" fmla="*/ 0 h 28"/>
                  <a:gd name="T2" fmla="*/ 27 w 27"/>
                  <a:gd name="T3" fmla="*/ 16 h 28"/>
                  <a:gd name="T4" fmla="*/ 12 w 27"/>
                  <a:gd name="T5" fmla="*/ 28 h 28"/>
                  <a:gd name="T6" fmla="*/ 0 w 27"/>
                  <a:gd name="T7" fmla="*/ 16 h 28"/>
                  <a:gd name="T8" fmla="*/ 5 w 27"/>
                  <a:gd name="T9" fmla="*/ 0 h 28"/>
                  <a:gd name="T10" fmla="*/ 22 w 27"/>
                  <a:gd name="T11" fmla="*/ 0 h 28"/>
                </a:gdLst>
                <a:ahLst/>
                <a:cxnLst>
                  <a:cxn ang="0">
                    <a:pos x="T0" y="T1"/>
                  </a:cxn>
                  <a:cxn ang="0">
                    <a:pos x="T2" y="T3"/>
                  </a:cxn>
                  <a:cxn ang="0">
                    <a:pos x="T4" y="T5"/>
                  </a:cxn>
                  <a:cxn ang="0">
                    <a:pos x="T6" y="T7"/>
                  </a:cxn>
                  <a:cxn ang="0">
                    <a:pos x="T8" y="T9"/>
                  </a:cxn>
                  <a:cxn ang="0">
                    <a:pos x="T10" y="T11"/>
                  </a:cxn>
                </a:cxnLst>
                <a:rect l="0" t="0" r="r" b="b"/>
                <a:pathLst>
                  <a:path w="27" h="28">
                    <a:moveTo>
                      <a:pt x="22" y="0"/>
                    </a:moveTo>
                    <a:lnTo>
                      <a:pt x="27" y="16"/>
                    </a:lnTo>
                    <a:lnTo>
                      <a:pt x="12" y="28"/>
                    </a:lnTo>
                    <a:lnTo>
                      <a:pt x="0" y="16"/>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53" name="Freeform 218"/>
              <p:cNvSpPr/>
              <p:nvPr/>
            </p:nvSpPr>
            <p:spPr bwMode="auto">
              <a:xfrm>
                <a:off x="5946775" y="3232150"/>
                <a:ext cx="42863" cy="185738"/>
              </a:xfrm>
              <a:custGeom>
                <a:avLst/>
                <a:gdLst>
                  <a:gd name="T0" fmla="*/ 22 w 27"/>
                  <a:gd name="T1" fmla="*/ 0 h 117"/>
                  <a:gd name="T2" fmla="*/ 27 w 27"/>
                  <a:gd name="T3" fmla="*/ 105 h 117"/>
                  <a:gd name="T4" fmla="*/ 12 w 27"/>
                  <a:gd name="T5" fmla="*/ 117 h 117"/>
                  <a:gd name="T6" fmla="*/ 0 w 27"/>
                  <a:gd name="T7" fmla="*/ 105 h 117"/>
                  <a:gd name="T8" fmla="*/ 5 w 27"/>
                  <a:gd name="T9" fmla="*/ 0 h 117"/>
                  <a:gd name="T10" fmla="*/ 22 w 27"/>
                  <a:gd name="T11" fmla="*/ 0 h 117"/>
                </a:gdLst>
                <a:ahLst/>
                <a:cxnLst>
                  <a:cxn ang="0">
                    <a:pos x="T0" y="T1"/>
                  </a:cxn>
                  <a:cxn ang="0">
                    <a:pos x="T2" y="T3"/>
                  </a:cxn>
                  <a:cxn ang="0">
                    <a:pos x="T4" y="T5"/>
                  </a:cxn>
                  <a:cxn ang="0">
                    <a:pos x="T6" y="T7"/>
                  </a:cxn>
                  <a:cxn ang="0">
                    <a:pos x="T8" y="T9"/>
                  </a:cxn>
                  <a:cxn ang="0">
                    <a:pos x="T10" y="T11"/>
                  </a:cxn>
                </a:cxnLst>
                <a:rect l="0" t="0" r="r" b="b"/>
                <a:pathLst>
                  <a:path w="27" h="117">
                    <a:moveTo>
                      <a:pt x="22" y="0"/>
                    </a:moveTo>
                    <a:lnTo>
                      <a:pt x="27" y="105"/>
                    </a:lnTo>
                    <a:lnTo>
                      <a:pt x="12" y="117"/>
                    </a:lnTo>
                    <a:lnTo>
                      <a:pt x="0" y="105"/>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pic>
        <p:nvPicPr>
          <p:cNvPr id="8" name="图片 7">
            <a:extLst>
              <a:ext uri="{FF2B5EF4-FFF2-40B4-BE49-F238E27FC236}">
                <a16:creationId xmlns:a16="http://schemas.microsoft.com/office/drawing/2014/main" id="{9628AE90-BB28-8D06-E0CC-04EA719876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47173"/>
            <a:ext cx="2143125" cy="2143125"/>
          </a:xfrm>
          <a:prstGeom prst="rect">
            <a:avLst/>
          </a:prstGeom>
        </p:spPr>
      </p:pic>
      <p:pic>
        <p:nvPicPr>
          <p:cNvPr id="58" name="图片 57">
            <a:extLst>
              <a:ext uri="{FF2B5EF4-FFF2-40B4-BE49-F238E27FC236}">
                <a16:creationId xmlns:a16="http://schemas.microsoft.com/office/drawing/2014/main" id="{8ED6A90A-ABD4-BB33-6E6C-CC6B1D9590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8" y="252351"/>
            <a:ext cx="1874125" cy="496390"/>
          </a:xfrm>
          <a:prstGeom prst="rect">
            <a:avLst/>
          </a:prstGeom>
        </p:spPr>
      </p:pic>
      <p:sp>
        <p:nvSpPr>
          <p:cNvPr id="59" name="文本框 58">
            <a:extLst>
              <a:ext uri="{FF2B5EF4-FFF2-40B4-BE49-F238E27FC236}">
                <a16:creationId xmlns:a16="http://schemas.microsoft.com/office/drawing/2014/main" id="{C09B0052-CCCD-9EEC-5EAC-C262457D48AF}"/>
              </a:ext>
            </a:extLst>
          </p:cNvPr>
          <p:cNvSpPr txBox="1"/>
          <p:nvPr/>
        </p:nvSpPr>
        <p:spPr>
          <a:xfrm>
            <a:off x="-6344" y="-2094"/>
            <a:ext cx="3254370" cy="215444"/>
          </a:xfrm>
          <a:prstGeom prst="rect">
            <a:avLst/>
          </a:prstGeom>
          <a:noFill/>
        </p:spPr>
        <p:txBody>
          <a:bodyPr wrap="square" rtlCol="0">
            <a:spAutoFit/>
          </a:bodyPr>
          <a:lstStyle/>
          <a:p>
            <a:r>
              <a:rPr lang="zh-CN" altLang="zh-CN" sz="800" b="1" i="1" dirty="0"/>
              <a:t>International Joint Conference on Neural Networks</a:t>
            </a:r>
            <a:r>
              <a:rPr lang="en-US" altLang="zh-CN" sz="800" b="1" i="1" dirty="0"/>
              <a:t> (IJCNN)</a:t>
            </a:r>
            <a:endParaRPr lang="zh-CN" altLang="en-US" sz="800" i="1" dirty="0"/>
          </a:p>
        </p:txBody>
      </p:sp>
      <p:pic>
        <p:nvPicPr>
          <p:cNvPr id="61" name="图片 60">
            <a:extLst>
              <a:ext uri="{FF2B5EF4-FFF2-40B4-BE49-F238E27FC236}">
                <a16:creationId xmlns:a16="http://schemas.microsoft.com/office/drawing/2014/main" id="{94CDA434-A5D1-2F53-CC67-D031A4D410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9359" y="290784"/>
            <a:ext cx="1515597" cy="386549"/>
          </a:xfrm>
          <a:prstGeom prst="rect">
            <a:avLst/>
          </a:prstGeom>
        </p:spPr>
      </p:pic>
      <p:pic>
        <p:nvPicPr>
          <p:cNvPr id="63" name="图片 62">
            <a:extLst>
              <a:ext uri="{FF2B5EF4-FFF2-40B4-BE49-F238E27FC236}">
                <a16:creationId xmlns:a16="http://schemas.microsoft.com/office/drawing/2014/main" id="{97C3F38A-6F8B-127A-F3D6-3A846AAB69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32628" y="224284"/>
            <a:ext cx="1372722" cy="453049"/>
          </a:xfrm>
          <a:prstGeom prst="rect">
            <a:avLst/>
          </a:prstGeom>
        </p:spPr>
      </p:pic>
      <p:sp>
        <p:nvSpPr>
          <p:cNvPr id="64" name="AutoShape 8" descr="Maastricht, Netherlands.">
            <a:extLst>
              <a:ext uri="{FF2B5EF4-FFF2-40B4-BE49-F238E27FC236}">
                <a16:creationId xmlns:a16="http://schemas.microsoft.com/office/drawing/2014/main" id="{1EA1B20A-30A7-DDA7-B2C6-77CDDA4E4C8B}"/>
              </a:ext>
            </a:extLst>
          </p:cNvPr>
          <p:cNvSpPr>
            <a:spLocks noChangeAspect="1" noChangeArrowheads="1"/>
          </p:cNvSpPr>
          <p:nvPr/>
        </p:nvSpPr>
        <p:spPr bwMode="auto">
          <a:xfrm>
            <a:off x="1588" y="0"/>
            <a:ext cx="12188825"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403600" cy="6858000"/>
          </a:xfrm>
          <a:prstGeom prst="rect">
            <a:avLst/>
          </a:prstGeom>
          <a:solidFill>
            <a:srgbClr val="012060"/>
          </a:solidFill>
          <a:ln>
            <a:noFill/>
          </a:ln>
          <a:effectLst>
            <a:outerShdw blurRad="635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文本框 4"/>
          <p:cNvSpPr txBox="1"/>
          <p:nvPr/>
        </p:nvSpPr>
        <p:spPr>
          <a:xfrm>
            <a:off x="400050" y="2870200"/>
            <a:ext cx="2527300" cy="646331"/>
          </a:xfrm>
          <a:prstGeom prst="rect">
            <a:avLst/>
          </a:prstGeom>
          <a:noFill/>
        </p:spPr>
        <p:txBody>
          <a:bodyPr wrap="square" rtlCol="0">
            <a:spAutoFit/>
          </a:bodyPr>
          <a:lstStyle/>
          <a:p>
            <a:pPr algn="ctr"/>
            <a:r>
              <a:rPr lang="en-US" altLang="zh-CN" sz="3600" dirty="0">
                <a:solidFill>
                  <a:prstClr val="white"/>
                </a:solidFill>
                <a:latin typeface="等线" panose="02010600030101010101" pitchFamily="2" charset="-122"/>
                <a:ea typeface="等线" panose="02010600030101010101" pitchFamily="2" charset="-122"/>
              </a:rPr>
              <a:t>CONTENTS</a:t>
            </a:r>
            <a:endParaRPr lang="zh-CN" altLang="en-US" sz="3600" dirty="0">
              <a:solidFill>
                <a:prstClr val="white"/>
              </a:solidFill>
              <a:latin typeface="等线" panose="02010600030101010101" pitchFamily="2" charset="-122"/>
              <a:ea typeface="等线" panose="02010600030101010101" pitchFamily="2" charset="-122"/>
            </a:endParaRPr>
          </a:p>
        </p:txBody>
      </p:sp>
      <p:sp>
        <p:nvSpPr>
          <p:cNvPr id="7" name="文本框 6"/>
          <p:cNvSpPr txBox="1"/>
          <p:nvPr/>
        </p:nvSpPr>
        <p:spPr>
          <a:xfrm>
            <a:off x="5011722" y="607543"/>
            <a:ext cx="6550025" cy="583565"/>
          </a:xfrm>
          <a:prstGeom prst="rect">
            <a:avLst/>
          </a:prstGeom>
          <a:noFill/>
        </p:spPr>
        <p:txBody>
          <a:bodyPr wrap="square" rtlCol="0">
            <a:spAutoFit/>
          </a:bodyPr>
          <a:lstStyle/>
          <a:p>
            <a:r>
              <a:rPr lang="en-US" altLang="zh-CN" sz="3200" b="1" dirty="0">
                <a:solidFill>
                  <a:srgbClr val="E7E6E6">
                    <a:lumMod val="25000"/>
                  </a:srgbClr>
                </a:solidFill>
                <a:latin typeface="方正舒体" panose="02010601030101010101" pitchFamily="2" charset="-122"/>
                <a:ea typeface="等线" panose="02010600030101010101" pitchFamily="2" charset="-122"/>
              </a:rPr>
              <a:t>PART 01 </a:t>
            </a:r>
            <a:r>
              <a:rPr lang="en-US" altLang="zh-CN" sz="3200" b="1" dirty="0">
                <a:latin typeface="方正舒体" panose="02010601030101010101" pitchFamily="2" charset="-122"/>
              </a:rPr>
              <a:t>Task Overview</a:t>
            </a:r>
            <a:endParaRPr lang="zh-CN" altLang="en-US" sz="3200" b="1" dirty="0">
              <a:solidFill>
                <a:schemeClr val="tx1"/>
              </a:solidFill>
              <a:latin typeface="方正舒体" panose="02010601030101010101" pitchFamily="2" charset="-122"/>
              <a:ea typeface="等线" panose="02010600030101010101" pitchFamily="2" charset="-122"/>
              <a:sym typeface="+mn-ea"/>
            </a:endParaRPr>
          </a:p>
        </p:txBody>
      </p:sp>
      <p:sp>
        <p:nvSpPr>
          <p:cNvPr id="8" name="文本框 7"/>
          <p:cNvSpPr txBox="1"/>
          <p:nvPr/>
        </p:nvSpPr>
        <p:spPr>
          <a:xfrm>
            <a:off x="5011722" y="1548835"/>
            <a:ext cx="6027753" cy="584775"/>
          </a:xfrm>
          <a:prstGeom prst="rect">
            <a:avLst/>
          </a:prstGeom>
          <a:noFill/>
        </p:spPr>
        <p:txBody>
          <a:bodyPr wrap="square" rtlCol="0">
            <a:spAutoFit/>
          </a:bodyPr>
          <a:lstStyle/>
          <a:p>
            <a:r>
              <a:rPr lang="en-US" altLang="zh-CN" sz="3200" b="1" dirty="0">
                <a:solidFill>
                  <a:srgbClr val="E7E6E6">
                    <a:lumMod val="25000"/>
                  </a:srgbClr>
                </a:solidFill>
                <a:latin typeface="方正舒体" panose="02010601030101010101" pitchFamily="2" charset="-122"/>
                <a:ea typeface="等线" panose="02010600030101010101" pitchFamily="2" charset="-122"/>
              </a:rPr>
              <a:t>PART 02 </a:t>
            </a:r>
            <a:r>
              <a:rPr lang="en-US" altLang="zh-CN" sz="3200" b="1" dirty="0">
                <a:solidFill>
                  <a:srgbClr val="E7E6E6">
                    <a:lumMod val="25000"/>
                  </a:srgbClr>
                </a:solidFill>
                <a:latin typeface="方正舒体" panose="02010601030101010101" pitchFamily="2" charset="-122"/>
              </a:rPr>
              <a:t>Dataset Introduction</a:t>
            </a:r>
            <a:endParaRPr lang="zh-CN" altLang="en-US" sz="3200" b="1" dirty="0">
              <a:solidFill>
                <a:srgbClr val="E7E6E6">
                  <a:lumMod val="25000"/>
                </a:srgbClr>
              </a:solidFill>
              <a:latin typeface="方正舒体" panose="02010601030101010101" pitchFamily="2" charset="-122"/>
              <a:ea typeface="等线" panose="02010600030101010101" pitchFamily="2" charset="-122"/>
            </a:endParaRPr>
          </a:p>
        </p:txBody>
      </p:sp>
      <p:sp>
        <p:nvSpPr>
          <p:cNvPr id="12" name="文本框 11"/>
          <p:cNvSpPr txBox="1"/>
          <p:nvPr/>
        </p:nvSpPr>
        <p:spPr>
          <a:xfrm>
            <a:off x="5061728" y="2352504"/>
            <a:ext cx="6550025" cy="584775"/>
          </a:xfrm>
          <a:prstGeom prst="rect">
            <a:avLst/>
          </a:prstGeom>
          <a:noFill/>
        </p:spPr>
        <p:txBody>
          <a:bodyPr wrap="square" rtlCol="0">
            <a:spAutoFit/>
          </a:bodyPr>
          <a:lstStyle/>
          <a:p>
            <a:r>
              <a:rPr lang="en-US" altLang="zh-CN" sz="3200" b="1" dirty="0">
                <a:solidFill>
                  <a:srgbClr val="E7E6E6">
                    <a:lumMod val="25000"/>
                  </a:srgbClr>
                </a:solidFill>
                <a:latin typeface="方正舒体" panose="02010601030101010101" pitchFamily="2" charset="-122"/>
                <a:ea typeface="等线" panose="02010600030101010101" pitchFamily="2" charset="-122"/>
              </a:rPr>
              <a:t>PART </a:t>
            </a:r>
            <a:r>
              <a:rPr lang="en-US" altLang="zh-CN" sz="3200" b="1" dirty="0">
                <a:solidFill>
                  <a:srgbClr val="E7E6E6">
                    <a:lumMod val="25000"/>
                  </a:srgbClr>
                </a:solidFill>
                <a:latin typeface="方正舒体" panose="02010601030101010101" pitchFamily="2" charset="-122"/>
              </a:rPr>
              <a:t>03 Experimental Method</a:t>
            </a:r>
            <a:endParaRPr lang="zh-CN" altLang="en-US" sz="3200" b="1" dirty="0">
              <a:solidFill>
                <a:srgbClr val="E7E6E6">
                  <a:lumMod val="25000"/>
                </a:srgbClr>
              </a:solidFill>
              <a:latin typeface="方正舒体" panose="02010601030101010101" pitchFamily="2" charset="-122"/>
              <a:ea typeface="等线" panose="02010600030101010101" pitchFamily="2" charset="-122"/>
            </a:endParaRPr>
          </a:p>
        </p:txBody>
      </p:sp>
      <p:sp>
        <p:nvSpPr>
          <p:cNvPr id="3" name="文本框 2">
            <a:extLst>
              <a:ext uri="{FF2B5EF4-FFF2-40B4-BE49-F238E27FC236}">
                <a16:creationId xmlns:a16="http://schemas.microsoft.com/office/drawing/2014/main" id="{CE53A0DC-599E-3A9D-255A-B97FC33D04D7}"/>
              </a:ext>
            </a:extLst>
          </p:cNvPr>
          <p:cNvSpPr txBox="1"/>
          <p:nvPr/>
        </p:nvSpPr>
        <p:spPr>
          <a:xfrm>
            <a:off x="5061728" y="3295006"/>
            <a:ext cx="6239638" cy="1569660"/>
          </a:xfrm>
          <a:prstGeom prst="rect">
            <a:avLst/>
          </a:prstGeom>
          <a:noFill/>
        </p:spPr>
        <p:txBody>
          <a:bodyPr wrap="square">
            <a:spAutoFit/>
          </a:bodyPr>
          <a:lstStyle>
            <a:defPPr>
              <a:defRPr lang="zh-CN"/>
            </a:defPPr>
            <a:lvl1pPr>
              <a:defRPr sz="3200" b="1">
                <a:solidFill>
                  <a:srgbClr val="E7E6E6">
                    <a:lumMod val="25000"/>
                  </a:srgbClr>
                </a:solidFill>
                <a:latin typeface="方正舒体" panose="02010601030101010101" pitchFamily="2" charset="-122"/>
                <a:ea typeface="等线" panose="02010600030101010101" pitchFamily="2" charset="-122"/>
              </a:defRPr>
            </a:lvl1pPr>
          </a:lstStyle>
          <a:p>
            <a:r>
              <a:rPr lang="en-US" altLang="zh-CN" dirty="0"/>
              <a:t>PART 04 E</a:t>
            </a:r>
            <a:r>
              <a:rPr lang="zh-CN" altLang="zh-CN" dirty="0"/>
              <a:t>xperimental </a:t>
            </a:r>
            <a:r>
              <a:rPr lang="en-US" altLang="zh-CN" dirty="0"/>
              <a:t>R</a:t>
            </a:r>
            <a:r>
              <a:rPr lang="zh-CN" altLang="zh-CN" dirty="0"/>
              <a:t>esult</a:t>
            </a:r>
          </a:p>
          <a:p>
            <a:br>
              <a:rPr lang="zh-CN" altLang="zh-CN" dirty="0"/>
            </a:br>
            <a:endParaRPr lang="zh-CN" altLang="en-US" dirty="0"/>
          </a:p>
        </p:txBody>
      </p:sp>
      <p:sp>
        <p:nvSpPr>
          <p:cNvPr id="2" name="文本框 1">
            <a:extLst>
              <a:ext uri="{FF2B5EF4-FFF2-40B4-BE49-F238E27FC236}">
                <a16:creationId xmlns:a16="http://schemas.microsoft.com/office/drawing/2014/main" id="{8A026CB3-196E-68BF-4C3A-85480C9AED9B}"/>
              </a:ext>
            </a:extLst>
          </p:cNvPr>
          <p:cNvSpPr txBox="1"/>
          <p:nvPr/>
        </p:nvSpPr>
        <p:spPr>
          <a:xfrm>
            <a:off x="5061728" y="4237508"/>
            <a:ext cx="6730222" cy="1077218"/>
          </a:xfrm>
          <a:prstGeom prst="rect">
            <a:avLst/>
          </a:prstGeom>
          <a:noFill/>
        </p:spPr>
        <p:txBody>
          <a:bodyPr wrap="square">
            <a:spAutoFit/>
          </a:bodyPr>
          <a:lstStyle>
            <a:defPPr>
              <a:defRPr lang="zh-CN"/>
            </a:defPPr>
            <a:lvl1pPr>
              <a:defRPr sz="3200" b="1">
                <a:solidFill>
                  <a:srgbClr val="E7E6E6">
                    <a:lumMod val="25000"/>
                  </a:srgbClr>
                </a:solidFill>
                <a:latin typeface="方正舒体" panose="02010601030101010101" pitchFamily="2" charset="-122"/>
                <a:ea typeface="等线" panose="02010600030101010101" pitchFamily="2" charset="-122"/>
              </a:defRPr>
            </a:lvl1pPr>
          </a:lstStyle>
          <a:p>
            <a:r>
              <a:rPr lang="en-US" altLang="zh-CN" dirty="0"/>
              <a:t>PART 05 Conclusion and Future Work</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603241"/>
            <a:ext cx="12192000" cy="3438659"/>
          </a:xfrm>
          <a:prstGeom prst="rect">
            <a:avLst/>
          </a:prstGeom>
          <a:solidFill>
            <a:srgbClr val="012060"/>
          </a:solidFill>
          <a:ln>
            <a:noFill/>
          </a:ln>
          <a:effectLst>
            <a:outerShdw blurRad="381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文本框 2"/>
          <p:cNvSpPr txBox="1"/>
          <p:nvPr/>
        </p:nvSpPr>
        <p:spPr>
          <a:xfrm>
            <a:off x="3465109" y="2095628"/>
            <a:ext cx="5261781" cy="1960408"/>
          </a:xfrm>
          <a:prstGeom prst="rect">
            <a:avLst/>
          </a:prstGeom>
          <a:noFill/>
        </p:spPr>
        <p:txBody>
          <a:bodyPr wrap="square" rtlCol="0">
            <a:spAutoFit/>
          </a:bodyPr>
          <a:lstStyle/>
          <a:p>
            <a:pPr algn="ctr">
              <a:lnSpc>
                <a:spcPct val="150000"/>
              </a:lnSpc>
            </a:pPr>
            <a:r>
              <a:rPr lang="en-US" altLang="zh-CN" sz="4400" b="1" dirty="0">
                <a:solidFill>
                  <a:prstClr val="white"/>
                </a:solidFill>
                <a:latin typeface="方正舒体" panose="02010601030101010101" pitchFamily="2" charset="-122"/>
                <a:ea typeface="等线" panose="02010600030101010101" pitchFamily="2" charset="-122"/>
              </a:rPr>
              <a:t>PART 01  </a:t>
            </a:r>
          </a:p>
          <a:p>
            <a:pPr algn="ctr">
              <a:lnSpc>
                <a:spcPct val="150000"/>
              </a:lnSpc>
            </a:pPr>
            <a:r>
              <a:rPr lang="en-US" altLang="zh-CN" sz="4400" b="1" dirty="0">
                <a:solidFill>
                  <a:schemeClr val="bg1"/>
                </a:solidFill>
                <a:latin typeface="方正舒体" panose="02010601030101010101" pitchFamily="2" charset="-122"/>
              </a:rPr>
              <a:t>Task Overview</a:t>
            </a:r>
            <a:endParaRPr lang="zh-CN" altLang="en-US" sz="4400" b="1" dirty="0">
              <a:solidFill>
                <a:schemeClr val="bg1"/>
              </a:solidFill>
              <a:latin typeface="方正舒体" panose="02010601030101010101" pitchFamily="2" charset="-122"/>
              <a:ea typeface="等线" panose="02010600030101010101" pitchFamily="2" charset="-122"/>
            </a:endParaRPr>
          </a:p>
        </p:txBody>
      </p:sp>
      <p:pic>
        <p:nvPicPr>
          <p:cNvPr id="8" name="图片 7">
            <a:extLst>
              <a:ext uri="{FF2B5EF4-FFF2-40B4-BE49-F238E27FC236}">
                <a16:creationId xmlns:a16="http://schemas.microsoft.com/office/drawing/2014/main" id="{91F41383-4644-BD75-0362-1961A66F27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268323" cy="110976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C63A4C8E-8153-7065-FC8F-B27D1E3F9D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2"/>
            <a:ext cx="4086225" cy="1062419"/>
          </a:xfrm>
          <a:prstGeom prst="rect">
            <a:avLst/>
          </a:prstGeom>
        </p:spPr>
      </p:pic>
      <p:pic>
        <p:nvPicPr>
          <p:cNvPr id="9" name="图片 8">
            <a:extLst>
              <a:ext uri="{FF2B5EF4-FFF2-40B4-BE49-F238E27FC236}">
                <a16:creationId xmlns:a16="http://schemas.microsoft.com/office/drawing/2014/main" id="{F2A6595F-BDB4-0B23-BBC3-AF2334DF63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 y="1652864"/>
            <a:ext cx="6334126" cy="3215468"/>
          </a:xfrm>
          <a:prstGeom prst="rect">
            <a:avLst/>
          </a:prstGeom>
        </p:spPr>
      </p:pic>
      <p:sp>
        <p:nvSpPr>
          <p:cNvPr id="10" name="文本框 9">
            <a:extLst>
              <a:ext uri="{FF2B5EF4-FFF2-40B4-BE49-F238E27FC236}">
                <a16:creationId xmlns:a16="http://schemas.microsoft.com/office/drawing/2014/main" id="{0AF95C0F-FA6B-92E6-AA18-2C266A5E6D0E}"/>
              </a:ext>
            </a:extLst>
          </p:cNvPr>
          <p:cNvSpPr txBox="1"/>
          <p:nvPr/>
        </p:nvSpPr>
        <p:spPr>
          <a:xfrm rot="10800000" flipV="1">
            <a:off x="419100" y="5343635"/>
            <a:ext cx="6029325" cy="1200329"/>
          </a:xfrm>
          <a:prstGeom prst="rect">
            <a:avLst/>
          </a:prstGeom>
          <a:noFill/>
        </p:spPr>
        <p:txBody>
          <a:bodyPr wrap="square" rtlCol="0">
            <a:spAutoFit/>
          </a:bodyPr>
          <a:lstStyle/>
          <a:p>
            <a:r>
              <a:rPr lang="en-US" altLang="zh-CN" b="1" i="1" dirty="0"/>
              <a:t>Fig. 1. </a:t>
            </a:r>
            <a:r>
              <a:rPr lang="en-US" altLang="zh-CN" dirty="0"/>
              <a:t>TSNE visualization of the embedding space learned on </a:t>
            </a:r>
            <a:r>
              <a:rPr lang="en-US" altLang="zh-CN" dirty="0" err="1"/>
              <a:t>SearchSnippets</a:t>
            </a:r>
            <a:r>
              <a:rPr lang="en-US" altLang="zh-CN" dirty="0"/>
              <a:t> using Sentence Transformer Sentence-</a:t>
            </a:r>
            <a:r>
              <a:rPr lang="en-US" altLang="zh-CN" dirty="0" err="1"/>
              <a:t>bert</a:t>
            </a:r>
            <a:r>
              <a:rPr lang="en-US" altLang="zh-CN" dirty="0"/>
              <a:t> as backbone. Each color corresponds to a ground-truth semantic category.</a:t>
            </a:r>
            <a:endParaRPr lang="zh-CN" altLang="en-US" dirty="0"/>
          </a:p>
        </p:txBody>
      </p:sp>
      <p:sp>
        <p:nvSpPr>
          <p:cNvPr id="11" name="文本框 10">
            <a:extLst>
              <a:ext uri="{FF2B5EF4-FFF2-40B4-BE49-F238E27FC236}">
                <a16:creationId xmlns:a16="http://schemas.microsoft.com/office/drawing/2014/main" id="{9692A1C6-961C-B499-4C84-624F3660858D}"/>
              </a:ext>
            </a:extLst>
          </p:cNvPr>
          <p:cNvSpPr txBox="1"/>
          <p:nvPr/>
        </p:nvSpPr>
        <p:spPr>
          <a:xfrm>
            <a:off x="6696076" y="118641"/>
            <a:ext cx="5210175" cy="2308324"/>
          </a:xfrm>
          <a:prstGeom prst="rect">
            <a:avLst/>
          </a:prstGeom>
          <a:noFill/>
        </p:spPr>
        <p:txBody>
          <a:bodyPr wrap="square" rtlCol="0">
            <a:spAutoFit/>
          </a:bodyPr>
          <a:lstStyle/>
          <a:p>
            <a:pPr algn="just"/>
            <a:r>
              <a:rPr lang="en-US" altLang="zh-CN" dirty="0"/>
              <a:t>Clustering represents one of the most fundamental challenges in unsupervised machine learning, attracting extensive research attention over decades. Traditional algorithms like K-means and Gaussian Mixture Models measures distances in the original data space, but prove inadequate for high-dimensional data, where the curse of dimensionality significantly degrades performance. </a:t>
            </a:r>
            <a:endParaRPr lang="zh-CN" altLang="en-US" dirty="0"/>
          </a:p>
        </p:txBody>
      </p:sp>
      <p:sp>
        <p:nvSpPr>
          <p:cNvPr id="13" name="文本框 12">
            <a:extLst>
              <a:ext uri="{FF2B5EF4-FFF2-40B4-BE49-F238E27FC236}">
                <a16:creationId xmlns:a16="http://schemas.microsoft.com/office/drawing/2014/main" id="{7F8272E9-384B-B4FD-F4CA-A6D405CA0C54}"/>
              </a:ext>
            </a:extLst>
          </p:cNvPr>
          <p:cNvSpPr txBox="1"/>
          <p:nvPr/>
        </p:nvSpPr>
        <p:spPr>
          <a:xfrm>
            <a:off x="6610352" y="2991858"/>
            <a:ext cx="5295899" cy="3139321"/>
          </a:xfrm>
          <a:prstGeom prst="rect">
            <a:avLst/>
          </a:prstGeom>
          <a:noFill/>
        </p:spPr>
        <p:txBody>
          <a:bodyPr wrap="square">
            <a:spAutoFit/>
          </a:bodyPr>
          <a:lstStyle/>
          <a:p>
            <a:pPr algn="just"/>
            <a:r>
              <a:rPr lang="zh-CN" altLang="en-US" dirty="0"/>
              <a:t>As illustrated in Figure 1, one possible reason is that, even with a deep neural network, data still has significant overlap across categories before clustering starts. Consequently, the clusters learned by optimizing various distance or similarity-based clustering objectives suffer from poor purity. Although the most advanced research methods, such as SCCL and DACL, could perform clustering separation to a certain extent, they still could not clearly and distinctly separate clusters with distinct boundaries.</a:t>
            </a:r>
          </a:p>
        </p:txBody>
      </p:sp>
    </p:spTree>
    <p:extLst>
      <p:ext uri="{BB962C8B-B14F-4D97-AF65-F5344CB8AC3E}">
        <p14:creationId xmlns:p14="http://schemas.microsoft.com/office/powerpoint/2010/main" val="4265898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E143C00-15F6-52A7-5FE7-B244D1411C77}"/>
              </a:ext>
            </a:extLst>
          </p:cNvPr>
          <p:cNvSpPr>
            <a:spLocks noGrp="1"/>
          </p:cNvSpPr>
          <p:nvPr>
            <p:ph idx="1"/>
          </p:nvPr>
        </p:nvSpPr>
        <p:spPr>
          <a:xfrm>
            <a:off x="-125128" y="1825625"/>
            <a:ext cx="11478928" cy="2619915"/>
          </a:xfrm>
        </p:spPr>
        <p:txBody>
          <a:bodyPr>
            <a:normAutofit lnSpcReduction="10000"/>
          </a:bodyPr>
          <a:lstStyle/>
          <a:p>
            <a:pPr algn="just"/>
            <a:r>
              <a:rPr lang="en-US" altLang="zh-CN" dirty="0"/>
              <a:t>We propose a joint model that combines instance-wise contrastive learning (Instance-CL) and clustering for unsupervised representation learning. As shown in Figure 2, a backbone </a:t>
            </a:r>
            <a:r>
              <a:rPr lang="en-US" altLang="zh-CN" i="1" dirty="0"/>
              <a:t>ψ(·) </a:t>
            </a:r>
            <a:r>
              <a:rPr lang="en-US" altLang="zh-CN" dirty="0"/>
              <a:t>maps the input data to embeddings, followed by two different heads: </a:t>
            </a:r>
            <a:r>
              <a:rPr lang="en-US" altLang="zh-CN" i="1" dirty="0"/>
              <a:t>g(·) </a:t>
            </a:r>
            <a:r>
              <a:rPr lang="en-US" altLang="zh-CN" dirty="0"/>
              <a:t>for contrastive loss and </a:t>
            </a:r>
            <a:r>
              <a:rPr lang="en-US" altLang="zh-CN" i="1" dirty="0"/>
              <a:t>f (·) </a:t>
            </a:r>
            <a:r>
              <a:rPr lang="en-US" altLang="zh-CN" dirty="0"/>
              <a:t>for clustering loss. Our data consists of both the original and the augmented data. Specifically, for a randomly sampled minibatch </a:t>
            </a:r>
            <a:r>
              <a:rPr lang="en-US" altLang="zh-CN" b="1" i="1" dirty="0"/>
              <a:t>B</a:t>
            </a:r>
            <a:r>
              <a:rPr lang="en-US" altLang="zh-CN" dirty="0"/>
              <a:t> = {xi}</a:t>
            </a:r>
            <a:r>
              <a:rPr lang="en-US" altLang="zh-CN" baseline="30000" dirty="0"/>
              <a:t>M</a:t>
            </a:r>
            <a:r>
              <a:rPr lang="en-US" altLang="zh-CN" baseline="-25000" dirty="0"/>
              <a:t>i=1</a:t>
            </a:r>
            <a:r>
              <a:rPr lang="en-US" altLang="zh-CN" dirty="0"/>
              <a:t>, we randomly generate augmented data </a:t>
            </a:r>
            <a:r>
              <a:rPr lang="en-US" altLang="zh-CN" b="1" i="1" dirty="0"/>
              <a:t>B</a:t>
            </a:r>
            <a:r>
              <a:rPr lang="en-US" altLang="zh-CN" b="1" i="1" baseline="30000" dirty="0"/>
              <a:t>a</a:t>
            </a:r>
            <a:r>
              <a:rPr lang="en-US" altLang="zh-CN" dirty="0"/>
              <a:t> = {˜xi}</a:t>
            </a:r>
            <a:r>
              <a:rPr lang="en-US" altLang="zh-CN" baseline="30000" dirty="0"/>
              <a:t>2M</a:t>
            </a:r>
            <a:r>
              <a:rPr lang="en-US" altLang="zh-CN" baseline="-25000" dirty="0"/>
              <a:t>i=1</a:t>
            </a:r>
            <a:r>
              <a:rPr lang="en-US" altLang="zh-CN" dirty="0"/>
              <a:t>.</a:t>
            </a:r>
            <a:endParaRPr lang="zh-CN" altLang="en-US" dirty="0"/>
          </a:p>
        </p:txBody>
      </p:sp>
      <p:pic>
        <p:nvPicPr>
          <p:cNvPr id="4" name="内容占位符 5">
            <a:extLst>
              <a:ext uri="{FF2B5EF4-FFF2-40B4-BE49-F238E27FC236}">
                <a16:creationId xmlns:a16="http://schemas.microsoft.com/office/drawing/2014/main" id="{D615087D-8BB3-FA87-BD9E-E121FF2D58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4086225" cy="1062419"/>
          </a:xfrm>
          <a:prstGeom prst="rect">
            <a:avLst/>
          </a:prstGeom>
        </p:spPr>
      </p:pic>
    </p:spTree>
    <p:extLst>
      <p:ext uri="{BB962C8B-B14F-4D97-AF65-F5344CB8AC3E}">
        <p14:creationId xmlns:p14="http://schemas.microsoft.com/office/powerpoint/2010/main" val="2117050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9AF2F-ADBE-5542-55A5-40F53FD4D152}"/>
            </a:ext>
          </a:extLst>
        </p:cNvPr>
        <p:cNvGrpSpPr/>
        <p:nvPr/>
      </p:nvGrpSpPr>
      <p:grpSpPr>
        <a:xfrm>
          <a:off x="0" y="0"/>
          <a:ext cx="0" cy="0"/>
          <a:chOff x="0" y="0"/>
          <a:chExt cx="0" cy="0"/>
        </a:xfrm>
      </p:grpSpPr>
      <p:pic>
        <p:nvPicPr>
          <p:cNvPr id="4" name="内容占位符 5">
            <a:extLst>
              <a:ext uri="{FF2B5EF4-FFF2-40B4-BE49-F238E27FC236}">
                <a16:creationId xmlns:a16="http://schemas.microsoft.com/office/drawing/2014/main" id="{91852575-AA12-97FC-FCC2-2A8561881E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2"/>
            <a:ext cx="4086225" cy="1062419"/>
          </a:xfrm>
          <a:prstGeom prst="rect">
            <a:avLst/>
          </a:prstGeom>
        </p:spPr>
      </p:pic>
      <p:pic>
        <p:nvPicPr>
          <p:cNvPr id="8" name="图片 7">
            <a:extLst>
              <a:ext uri="{FF2B5EF4-FFF2-40B4-BE49-F238E27FC236}">
                <a16:creationId xmlns:a16="http://schemas.microsoft.com/office/drawing/2014/main" id="{80581A97-161C-11AF-D7E1-B458F03398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834" y="1240821"/>
            <a:ext cx="9166231" cy="4376358"/>
          </a:xfrm>
          <a:prstGeom prst="rect">
            <a:avLst/>
          </a:prstGeom>
        </p:spPr>
      </p:pic>
      <p:sp>
        <p:nvSpPr>
          <p:cNvPr id="9" name="文本框 8">
            <a:extLst>
              <a:ext uri="{FF2B5EF4-FFF2-40B4-BE49-F238E27FC236}">
                <a16:creationId xmlns:a16="http://schemas.microsoft.com/office/drawing/2014/main" id="{F4F86F25-4BCF-EF91-7D64-B656179F2CA2}"/>
              </a:ext>
            </a:extLst>
          </p:cNvPr>
          <p:cNvSpPr txBox="1"/>
          <p:nvPr/>
        </p:nvSpPr>
        <p:spPr>
          <a:xfrm rot="10800000" flipV="1">
            <a:off x="346866" y="5617179"/>
            <a:ext cx="10831515" cy="1200329"/>
          </a:xfrm>
          <a:prstGeom prst="rect">
            <a:avLst/>
          </a:prstGeom>
          <a:noFill/>
        </p:spPr>
        <p:txBody>
          <a:bodyPr wrap="square" rtlCol="0">
            <a:spAutoFit/>
          </a:bodyPr>
          <a:lstStyle/>
          <a:p>
            <a:pPr algn="just"/>
            <a:r>
              <a:rPr lang="en-US" altLang="zh-CN" b="1" i="1" dirty="0"/>
              <a:t>Fig. 2. </a:t>
            </a:r>
            <a:r>
              <a:rPr lang="en-US" altLang="zh-CN" dirty="0"/>
              <a:t>We propose an Improved Supporting Clustering based on Sentence-Transformers with Contrastive Learning (ISCST), a novel framework combining bottom-up instance discrimination with top-down clustering objectives. ISCST leverages contrastive learning to simultaneously enhance categorical separation and optimize intra-cluster compactness and inter-cluster discrimination. </a:t>
            </a:r>
            <a:endParaRPr lang="zh-CN" altLang="en-US" dirty="0"/>
          </a:p>
        </p:txBody>
      </p:sp>
    </p:spTree>
    <p:extLst>
      <p:ext uri="{BB962C8B-B14F-4D97-AF65-F5344CB8AC3E}">
        <p14:creationId xmlns:p14="http://schemas.microsoft.com/office/powerpoint/2010/main" val="1643158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603241"/>
            <a:ext cx="12192000" cy="3438659"/>
          </a:xfrm>
          <a:prstGeom prst="rect">
            <a:avLst/>
          </a:prstGeom>
          <a:solidFill>
            <a:srgbClr val="012060"/>
          </a:solidFill>
          <a:ln>
            <a:noFill/>
          </a:ln>
          <a:effectLst>
            <a:outerShdw blurRad="381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文本框 2"/>
          <p:cNvSpPr txBox="1"/>
          <p:nvPr/>
        </p:nvSpPr>
        <p:spPr>
          <a:xfrm>
            <a:off x="2847975" y="2034611"/>
            <a:ext cx="6112231" cy="1960408"/>
          </a:xfrm>
          <a:prstGeom prst="rect">
            <a:avLst/>
          </a:prstGeom>
          <a:noFill/>
        </p:spPr>
        <p:txBody>
          <a:bodyPr wrap="square" rtlCol="0">
            <a:spAutoFit/>
          </a:bodyPr>
          <a:lstStyle/>
          <a:p>
            <a:pPr algn="ctr">
              <a:lnSpc>
                <a:spcPct val="150000"/>
              </a:lnSpc>
            </a:pPr>
            <a:r>
              <a:rPr lang="en-US" altLang="zh-CN" sz="4400" b="1" dirty="0">
                <a:solidFill>
                  <a:prstClr val="white"/>
                </a:solidFill>
                <a:latin typeface="方正舒体" panose="02010601030101010101" pitchFamily="2" charset="-122"/>
                <a:ea typeface="等线" panose="02010600030101010101" pitchFamily="2" charset="-122"/>
              </a:rPr>
              <a:t>PART 02  </a:t>
            </a:r>
          </a:p>
          <a:p>
            <a:pPr algn="ctr">
              <a:lnSpc>
                <a:spcPct val="150000"/>
              </a:lnSpc>
            </a:pPr>
            <a:r>
              <a:rPr lang="en-US" altLang="zh-CN" sz="4400" b="1" dirty="0">
                <a:solidFill>
                  <a:schemeClr val="bg1"/>
                </a:solidFill>
                <a:latin typeface="方正舒体" panose="02010601030101010101" pitchFamily="2" charset="-122"/>
              </a:rPr>
              <a:t>Dataset Introduction</a:t>
            </a:r>
            <a:endParaRPr lang="zh-CN" altLang="en-US" sz="4400" b="1" dirty="0">
              <a:solidFill>
                <a:schemeClr val="bg1"/>
              </a:solidFill>
              <a:latin typeface="方正舒体" panose="02010601030101010101" pitchFamily="2" charset="-122"/>
              <a:ea typeface="等线" panose="02010600030101010101" pitchFamily="2" charset="-122"/>
            </a:endParaRPr>
          </a:p>
        </p:txBody>
      </p:sp>
      <p:pic>
        <p:nvPicPr>
          <p:cNvPr id="5" name="图片 4">
            <a:extLst>
              <a:ext uri="{FF2B5EF4-FFF2-40B4-BE49-F238E27FC236}">
                <a16:creationId xmlns:a16="http://schemas.microsoft.com/office/drawing/2014/main" id="{80C9DF8A-59CD-EF12-C0E3-8769C3F562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268323" cy="110976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Click="0" advTm="3000"/>
    </mc:Choice>
    <mc:Fallback xmlns="">
      <p:transition advClick="0"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2CC7E-57E0-BA01-57C9-0E46E49D5538}"/>
            </a:ext>
          </a:extLst>
        </p:cNvPr>
        <p:cNvGrpSpPr/>
        <p:nvPr/>
      </p:nvGrpSpPr>
      <p:grpSpPr>
        <a:xfrm>
          <a:off x="0" y="0"/>
          <a:ext cx="0" cy="0"/>
          <a:chOff x="0" y="0"/>
          <a:chExt cx="0" cy="0"/>
        </a:xfrm>
      </p:grpSpPr>
      <p:pic>
        <p:nvPicPr>
          <p:cNvPr id="4" name="内容占位符 5">
            <a:extLst>
              <a:ext uri="{FF2B5EF4-FFF2-40B4-BE49-F238E27FC236}">
                <a16:creationId xmlns:a16="http://schemas.microsoft.com/office/drawing/2014/main" id="{21C1F628-ED85-E0A4-0058-4AE28EF7B1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2"/>
            <a:ext cx="4086225" cy="1062419"/>
          </a:xfrm>
          <a:prstGeom prst="rect">
            <a:avLst/>
          </a:prstGeom>
        </p:spPr>
      </p:pic>
      <p:pic>
        <p:nvPicPr>
          <p:cNvPr id="6" name="图片 5">
            <a:extLst>
              <a:ext uri="{FF2B5EF4-FFF2-40B4-BE49-F238E27FC236}">
                <a16:creationId xmlns:a16="http://schemas.microsoft.com/office/drawing/2014/main" id="{AE64ACFE-EFD4-15E0-102A-3AA033DA8E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038" y="1357543"/>
            <a:ext cx="5009524" cy="3685714"/>
          </a:xfrm>
          <a:prstGeom prst="rect">
            <a:avLst/>
          </a:prstGeom>
        </p:spPr>
      </p:pic>
      <p:sp>
        <p:nvSpPr>
          <p:cNvPr id="10" name="文本框 9">
            <a:extLst>
              <a:ext uri="{FF2B5EF4-FFF2-40B4-BE49-F238E27FC236}">
                <a16:creationId xmlns:a16="http://schemas.microsoft.com/office/drawing/2014/main" id="{C2A75075-005D-F876-6E11-ED2F971EFB5C}"/>
              </a:ext>
            </a:extLst>
          </p:cNvPr>
          <p:cNvSpPr txBox="1"/>
          <p:nvPr/>
        </p:nvSpPr>
        <p:spPr>
          <a:xfrm>
            <a:off x="5476562" y="1062417"/>
            <a:ext cx="6324600" cy="3693319"/>
          </a:xfrm>
          <a:prstGeom prst="rect">
            <a:avLst/>
          </a:prstGeom>
          <a:noFill/>
        </p:spPr>
        <p:txBody>
          <a:bodyPr wrap="square">
            <a:spAutoFit/>
          </a:bodyPr>
          <a:lstStyle/>
          <a:p>
            <a:r>
              <a:rPr lang="zh-CN" altLang="en-US" dirty="0"/>
              <a:t>We evaluate ISCST on eight benchmark datasets spanning diverse domains (see </a:t>
            </a:r>
            <a:r>
              <a:rPr lang="zh-CN" altLang="en-US" b="1" i="1" dirty="0"/>
              <a:t>Table 1</a:t>
            </a:r>
            <a:r>
              <a:rPr lang="zh-CN" altLang="en-US" dirty="0"/>
              <a:t>). </a:t>
            </a:r>
            <a:endParaRPr lang="en-US" altLang="zh-CN" dirty="0"/>
          </a:p>
          <a:p>
            <a:endParaRPr lang="en-US" altLang="zh-CN" dirty="0"/>
          </a:p>
          <a:p>
            <a:pPr algn="just"/>
            <a:r>
              <a:rPr lang="zh-CN" altLang="en-US" b="1" dirty="0"/>
              <a:t>SearchSnippets </a:t>
            </a:r>
            <a:r>
              <a:rPr lang="zh-CN" altLang="en-US" dirty="0"/>
              <a:t> contains 12,340 web search snippets across 8 groups. </a:t>
            </a:r>
            <a:r>
              <a:rPr lang="zh-CN" altLang="en-US" b="1" dirty="0"/>
              <a:t>StackOverflow </a:t>
            </a:r>
            <a:r>
              <a:rPr lang="zh-CN" altLang="en-US" dirty="0"/>
              <a:t>includes 20,000 technical question titles in 20 categories, extracted from Kaggle. </a:t>
            </a:r>
            <a:r>
              <a:rPr lang="zh-CN" altLang="en-US" b="1" dirty="0"/>
              <a:t>Biomedical </a:t>
            </a:r>
            <a:r>
              <a:rPr lang="zh-CN" altLang="en-US" dirty="0"/>
              <a:t>comprises 20,000 scientific paper titles from 20 research domains, randomly selected from the PubMed corpus distributed by BioASQ. </a:t>
            </a:r>
            <a:r>
              <a:rPr lang="zh-CN" altLang="en-US" b="1" dirty="0"/>
              <a:t>AgNews </a:t>
            </a:r>
            <a:r>
              <a:rPr lang="zh-CN" altLang="en-US" dirty="0"/>
              <a:t>covers news titles in 4 topics. </a:t>
            </a:r>
            <a:r>
              <a:rPr lang="zh-CN" altLang="en-US" b="1" dirty="0"/>
              <a:t>Tweet </a:t>
            </a:r>
            <a:r>
              <a:rPr lang="zh-CN" altLang="en-US" dirty="0"/>
              <a:t>contains 2,472 social media posts across 89 categories. GoogleNews includes 11,109 articles across 152 events, partitioned into </a:t>
            </a:r>
            <a:r>
              <a:rPr lang="zh-CN" altLang="en-US" b="1" dirty="0"/>
              <a:t>GoogleNews-TS </a:t>
            </a:r>
            <a:r>
              <a:rPr lang="zh-CN" altLang="en-US" dirty="0"/>
              <a:t>(full), </a:t>
            </a:r>
            <a:r>
              <a:rPr lang="zh-CN" altLang="en-US" b="1" dirty="0"/>
              <a:t>GoogleNews-T</a:t>
            </a:r>
            <a:r>
              <a:rPr lang="zh-CN" altLang="en-US" dirty="0"/>
              <a:t> (titles), and </a:t>
            </a:r>
            <a:r>
              <a:rPr lang="zh-CN" altLang="en-US" b="1" dirty="0"/>
              <a:t>GoogleNews-S </a:t>
            </a:r>
            <a:r>
              <a:rPr lang="zh-CN" altLang="en-US" dirty="0"/>
              <a:t>(snippets) variants</a:t>
            </a:r>
            <a:r>
              <a:rPr lang="en-US" altLang="zh-CN" dirty="0"/>
              <a:t>.</a:t>
            </a:r>
            <a:endParaRPr lang="zh-CN" altLang="en-US" dirty="0"/>
          </a:p>
        </p:txBody>
      </p:sp>
    </p:spTree>
    <p:extLst>
      <p:ext uri="{BB962C8B-B14F-4D97-AF65-F5344CB8AC3E}">
        <p14:creationId xmlns:p14="http://schemas.microsoft.com/office/powerpoint/2010/main" val="3816716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603241"/>
            <a:ext cx="12192000" cy="3438659"/>
          </a:xfrm>
          <a:prstGeom prst="rect">
            <a:avLst/>
          </a:prstGeom>
          <a:solidFill>
            <a:srgbClr val="012060"/>
          </a:solidFill>
          <a:ln>
            <a:noFill/>
          </a:ln>
          <a:effectLst>
            <a:outerShdw blurRad="381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文本框 2"/>
          <p:cNvSpPr txBox="1"/>
          <p:nvPr/>
        </p:nvSpPr>
        <p:spPr>
          <a:xfrm>
            <a:off x="2724151" y="2150420"/>
            <a:ext cx="6879040" cy="1960408"/>
          </a:xfrm>
          <a:prstGeom prst="rect">
            <a:avLst/>
          </a:prstGeom>
          <a:noFill/>
        </p:spPr>
        <p:txBody>
          <a:bodyPr wrap="square" rtlCol="0">
            <a:spAutoFit/>
          </a:bodyPr>
          <a:lstStyle/>
          <a:p>
            <a:pPr algn="ctr">
              <a:lnSpc>
                <a:spcPct val="150000"/>
              </a:lnSpc>
            </a:pPr>
            <a:r>
              <a:rPr lang="en-US" altLang="zh-CN" sz="4400" b="1" dirty="0">
                <a:solidFill>
                  <a:prstClr val="white"/>
                </a:solidFill>
                <a:latin typeface="方正舒体" panose="02010601030101010101" pitchFamily="2" charset="-122"/>
                <a:ea typeface="等线" panose="02010600030101010101" pitchFamily="2" charset="-122"/>
              </a:rPr>
              <a:t>PART 03  </a:t>
            </a:r>
          </a:p>
          <a:p>
            <a:pPr algn="ctr">
              <a:lnSpc>
                <a:spcPct val="150000"/>
              </a:lnSpc>
            </a:pPr>
            <a:r>
              <a:rPr lang="en-US" altLang="zh-CN" sz="4400" b="1" dirty="0">
                <a:solidFill>
                  <a:schemeClr val="bg1"/>
                </a:solidFill>
                <a:latin typeface="方正舒体" panose="02010601030101010101" pitchFamily="2" charset="-122"/>
              </a:rPr>
              <a:t>Experimental Method</a:t>
            </a:r>
            <a:endParaRPr lang="zh-CN" altLang="en-US" sz="4400" b="1" dirty="0">
              <a:solidFill>
                <a:schemeClr val="bg1"/>
              </a:solidFill>
              <a:latin typeface="方正舒体" panose="02010601030101010101" pitchFamily="2" charset="-122"/>
              <a:ea typeface="等线" panose="02010600030101010101" pitchFamily="2" charset="-122"/>
            </a:endParaRPr>
          </a:p>
        </p:txBody>
      </p:sp>
      <p:pic>
        <p:nvPicPr>
          <p:cNvPr id="5" name="图片 4">
            <a:extLst>
              <a:ext uri="{FF2B5EF4-FFF2-40B4-BE49-F238E27FC236}">
                <a16:creationId xmlns:a16="http://schemas.microsoft.com/office/drawing/2014/main" id="{40840D61-D353-B34F-329A-7926EB92C8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268323" cy="110976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Click="0" advTm="3000"/>
    </mc:Choice>
    <mc:Fallback xmlns="">
      <p:transition advClick="0"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2CC7E-57E0-BA01-57C9-0E46E49D5538}"/>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2BB97F4B-DCAD-ADEB-F2C5-240D3936FD8D}"/>
              </a:ext>
            </a:extLst>
          </p:cNvPr>
          <p:cNvSpPr>
            <a:spLocks noGrp="1"/>
          </p:cNvSpPr>
          <p:nvPr>
            <p:ph idx="1"/>
          </p:nvPr>
        </p:nvSpPr>
        <p:spPr>
          <a:xfrm>
            <a:off x="838199" y="1466850"/>
            <a:ext cx="10944225" cy="4710113"/>
          </a:xfrm>
        </p:spPr>
        <p:txBody>
          <a:bodyPr/>
          <a:lstStyle/>
          <a:p>
            <a:r>
              <a:rPr lang="en-US" altLang="zh-CN" dirty="0"/>
              <a:t>We implement our model in </a:t>
            </a:r>
            <a:r>
              <a:rPr lang="en-US" altLang="zh-CN" dirty="0" err="1"/>
              <a:t>PyTorch</a:t>
            </a:r>
            <a:r>
              <a:rPr lang="en-US" altLang="zh-CN" dirty="0"/>
              <a:t> with the Sentence Transformer library.</a:t>
            </a:r>
          </a:p>
          <a:p>
            <a:endParaRPr lang="en-US" altLang="zh-CN" dirty="0"/>
          </a:p>
          <a:p>
            <a:r>
              <a:rPr lang="en-US" altLang="zh-CN" dirty="0"/>
              <a:t> ISCST employs all-mpnet-base-v2 for embedding performance. Both utilize linear clustering heads (</a:t>
            </a:r>
            <a:r>
              <a:rPr lang="en-US" altLang="zh-CN" b="1" i="1" dirty="0"/>
              <a:t>f </a:t>
            </a:r>
            <a:r>
              <a:rPr lang="en-US" altLang="zh-CN" dirty="0"/>
              <a:t>) of dimensions 768 × K, where K represents the number of target clusters. The contrastive learning component employs an MLP (g) with 768 hidden units and 128-dimensional outputs.</a:t>
            </a:r>
            <a:endParaRPr lang="zh-CN" altLang="en-US" dirty="0"/>
          </a:p>
        </p:txBody>
      </p:sp>
      <p:pic>
        <p:nvPicPr>
          <p:cNvPr id="6" name="内容占位符 5">
            <a:extLst>
              <a:ext uri="{FF2B5EF4-FFF2-40B4-BE49-F238E27FC236}">
                <a16:creationId xmlns:a16="http://schemas.microsoft.com/office/drawing/2014/main" id="{84C32276-FA7C-8CF9-7268-2023F17D8A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4086225" cy="1062419"/>
          </a:xfrm>
          <a:prstGeom prst="rect">
            <a:avLst/>
          </a:prstGeom>
        </p:spPr>
      </p:pic>
    </p:spTree>
    <p:extLst>
      <p:ext uri="{BB962C8B-B14F-4D97-AF65-F5344CB8AC3E}">
        <p14:creationId xmlns:p14="http://schemas.microsoft.com/office/powerpoint/2010/main" val="3073754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DA1D3-16CB-A410-D519-F3E21DECB51C}"/>
            </a:ext>
          </a:extLst>
        </p:cNvPr>
        <p:cNvGrpSpPr/>
        <p:nvPr/>
      </p:nvGrpSpPr>
      <p:grpSpPr>
        <a:xfrm>
          <a:off x="0" y="0"/>
          <a:ext cx="0" cy="0"/>
          <a:chOff x="0" y="0"/>
          <a:chExt cx="0" cy="0"/>
        </a:xfrm>
      </p:grpSpPr>
      <p:pic>
        <p:nvPicPr>
          <p:cNvPr id="5" name="内容占位符 5">
            <a:extLst>
              <a:ext uri="{FF2B5EF4-FFF2-40B4-BE49-F238E27FC236}">
                <a16:creationId xmlns:a16="http://schemas.microsoft.com/office/drawing/2014/main" id="{2FD037DE-4A7D-09DD-6890-A91B85F3A6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4086225" cy="1062419"/>
          </a:xfrm>
          <a:prstGeom prst="rect">
            <a:avLst/>
          </a:prstGeom>
        </p:spPr>
      </p:pic>
      <p:sp>
        <p:nvSpPr>
          <p:cNvPr id="7" name="文本框 6">
            <a:extLst>
              <a:ext uri="{FF2B5EF4-FFF2-40B4-BE49-F238E27FC236}">
                <a16:creationId xmlns:a16="http://schemas.microsoft.com/office/drawing/2014/main" id="{95F1996C-EB7B-89E0-16F1-62D76E21A886}"/>
              </a:ext>
            </a:extLst>
          </p:cNvPr>
          <p:cNvSpPr txBox="1"/>
          <p:nvPr/>
        </p:nvSpPr>
        <p:spPr>
          <a:xfrm>
            <a:off x="209550" y="1253609"/>
            <a:ext cx="6096000" cy="369332"/>
          </a:xfrm>
          <a:prstGeom prst="rect">
            <a:avLst/>
          </a:prstGeom>
          <a:noFill/>
        </p:spPr>
        <p:txBody>
          <a:bodyPr wrap="square">
            <a:spAutoFit/>
          </a:bodyPr>
          <a:lstStyle/>
          <a:p>
            <a:r>
              <a:rPr lang="en-US" altLang="zh-CN" b="1" dirty="0"/>
              <a:t>E</a:t>
            </a:r>
            <a:r>
              <a:rPr lang="zh-CN" altLang="en-US" b="1" dirty="0"/>
              <a:t>xploration of Data Augmentations</a:t>
            </a:r>
          </a:p>
        </p:txBody>
      </p:sp>
      <p:sp>
        <p:nvSpPr>
          <p:cNvPr id="8" name="文本框 7">
            <a:extLst>
              <a:ext uri="{FF2B5EF4-FFF2-40B4-BE49-F238E27FC236}">
                <a16:creationId xmlns:a16="http://schemas.microsoft.com/office/drawing/2014/main" id="{8F961059-EA69-7FD3-D8B4-6FCD2F3347B7}"/>
              </a:ext>
            </a:extLst>
          </p:cNvPr>
          <p:cNvSpPr txBox="1"/>
          <p:nvPr/>
        </p:nvSpPr>
        <p:spPr>
          <a:xfrm>
            <a:off x="209550" y="1747458"/>
            <a:ext cx="11334750" cy="3139321"/>
          </a:xfrm>
          <a:prstGeom prst="rect">
            <a:avLst/>
          </a:prstGeom>
          <a:noFill/>
        </p:spPr>
        <p:txBody>
          <a:bodyPr wrap="square" rtlCol="0">
            <a:spAutoFit/>
          </a:bodyPr>
          <a:lstStyle/>
          <a:p>
            <a:r>
              <a:rPr lang="en-US" altLang="zh-CN" dirty="0"/>
              <a:t>We explore four unsupervised text augmentation strategies: </a:t>
            </a:r>
          </a:p>
          <a:p>
            <a:r>
              <a:rPr lang="en-US" altLang="zh-CN" dirty="0"/>
              <a:t>(1) </a:t>
            </a:r>
            <a:r>
              <a:rPr lang="en-US" altLang="zh-CN" i="1" dirty="0"/>
              <a:t>Word Deletion Augmenter. </a:t>
            </a:r>
            <a:r>
              <a:rPr lang="en-US" altLang="zh-CN" dirty="0"/>
              <a:t>It randomly removes words using WordNet;</a:t>
            </a:r>
          </a:p>
          <a:p>
            <a:r>
              <a:rPr lang="en-US" altLang="zh-CN" dirty="0"/>
              <a:t>(2) </a:t>
            </a:r>
            <a:r>
              <a:rPr lang="en-US" altLang="zh-CN" i="1" dirty="0" err="1"/>
              <a:t>Charswap</a:t>
            </a:r>
            <a:r>
              <a:rPr lang="en-US" altLang="zh-CN" i="1" dirty="0"/>
              <a:t> Augmenter. </a:t>
            </a:r>
            <a:r>
              <a:rPr lang="en-US" altLang="zh-CN" dirty="0"/>
              <a:t>It enhances text by swapping random characters of words in a sentence; </a:t>
            </a:r>
          </a:p>
          <a:p>
            <a:r>
              <a:rPr lang="en-US" altLang="zh-CN" dirty="0"/>
              <a:t>(3) </a:t>
            </a:r>
            <a:r>
              <a:rPr lang="en-US" altLang="zh-CN" i="1" dirty="0"/>
              <a:t>Contextual Augmenter. </a:t>
            </a:r>
            <a:r>
              <a:rPr lang="en-US" altLang="zh-CN" dirty="0"/>
              <a:t>It leverages pre-trained transformers to identify top-n suitable words for insertion or substitution. For contextual augmentation, we use</a:t>
            </a:r>
            <a:r>
              <a:rPr lang="en-US" altLang="zh-CN" i="1" dirty="0"/>
              <a:t> google-</a:t>
            </a:r>
            <a:r>
              <a:rPr lang="en-US" altLang="zh-CN" i="1" dirty="0" err="1"/>
              <a:t>bert</a:t>
            </a:r>
            <a:r>
              <a:rPr lang="en-US" altLang="zh-CN" i="1" dirty="0"/>
              <a:t>/</a:t>
            </a:r>
            <a:r>
              <a:rPr lang="en-US" altLang="zh-CN" i="1" dirty="0" err="1"/>
              <a:t>bert</a:t>
            </a:r>
            <a:r>
              <a:rPr lang="en-US" altLang="zh-CN" i="1" dirty="0"/>
              <a:t>-base-uncased </a:t>
            </a:r>
            <a:r>
              <a:rPr lang="en-US" altLang="zh-CN" dirty="0"/>
              <a:t>and </a:t>
            </a:r>
            <a:r>
              <a:rPr lang="en-US" altLang="zh-CN" i="1" dirty="0" err="1"/>
              <a:t>FacebookAI</a:t>
            </a:r>
            <a:r>
              <a:rPr lang="en-US" altLang="zh-CN" i="1" dirty="0"/>
              <a:t>/</a:t>
            </a:r>
            <a:r>
              <a:rPr lang="en-US" altLang="zh-CN" i="1" dirty="0" err="1"/>
              <a:t>roberta</a:t>
            </a:r>
            <a:r>
              <a:rPr lang="en-US" altLang="zh-CN" i="1" dirty="0"/>
              <a:t>-base </a:t>
            </a:r>
            <a:r>
              <a:rPr lang="en-US" altLang="zh-CN" dirty="0"/>
              <a:t>models to generate augmented pairs, providing transformer-based semantic understanding for robust positive pair creation in contrastive learning. </a:t>
            </a:r>
          </a:p>
          <a:p>
            <a:r>
              <a:rPr lang="en-US" altLang="zh-CN" dirty="0"/>
              <a:t> (4) </a:t>
            </a:r>
            <a:r>
              <a:rPr lang="en-US" altLang="zh-CN" i="1" dirty="0"/>
              <a:t>Paraphrase Augmenter. </a:t>
            </a:r>
            <a:r>
              <a:rPr lang="en-US" altLang="zh-CN" dirty="0"/>
              <a:t>Machine translation models can be used to paraphrase text by translating it to an intermediate language and back (round-trip translation). This augmenter shows how to paraphrase text by first passing it through an English-French translation model, then through a French-English mixture-of-experts translation model.</a:t>
            </a:r>
            <a:endParaRPr lang="zh-CN" altLang="en-US" dirty="0"/>
          </a:p>
        </p:txBody>
      </p:sp>
    </p:spTree>
    <p:extLst>
      <p:ext uri="{BB962C8B-B14F-4D97-AF65-F5344CB8AC3E}">
        <p14:creationId xmlns:p14="http://schemas.microsoft.com/office/powerpoint/2010/main" val="3984031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22A87F0-7633-08C4-968E-48C53D9EB9E6}"/>
              </a:ext>
            </a:extLst>
          </p:cNvPr>
          <p:cNvSpPr>
            <a:spLocks noGrp="1"/>
          </p:cNvSpPr>
          <p:nvPr>
            <p:ph idx="1"/>
          </p:nvPr>
        </p:nvSpPr>
        <p:spPr>
          <a:xfrm>
            <a:off x="638175" y="1253331"/>
            <a:ext cx="4267200" cy="4351338"/>
          </a:xfrm>
        </p:spPr>
        <p:txBody>
          <a:bodyPr>
            <a:normAutofit/>
          </a:bodyPr>
          <a:lstStyle/>
          <a:p>
            <a:pPr algn="just"/>
            <a:r>
              <a:rPr lang="en-US" altLang="zh-CN" sz="2400" dirty="0"/>
              <a:t>Using example input as “The new date for the Games, postponed for a year in response to the coronavirus pandemic, gives athletes time to recalibrate their training schedules.” as basic text to generate two sentences obtained through paraphrasing. Data flow is shown in the figure 3.</a:t>
            </a:r>
            <a:endParaRPr lang="zh-CN" altLang="en-US" sz="2400" dirty="0"/>
          </a:p>
        </p:txBody>
      </p:sp>
      <p:pic>
        <p:nvPicPr>
          <p:cNvPr id="4" name="内容占位符 5">
            <a:extLst>
              <a:ext uri="{FF2B5EF4-FFF2-40B4-BE49-F238E27FC236}">
                <a16:creationId xmlns:a16="http://schemas.microsoft.com/office/drawing/2014/main" id="{44FF5D8C-B1FA-E45B-B9FC-DAFF2BDBF0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4086225" cy="1062419"/>
          </a:xfrm>
          <a:prstGeom prst="rect">
            <a:avLst/>
          </a:prstGeom>
        </p:spPr>
      </p:pic>
      <p:pic>
        <p:nvPicPr>
          <p:cNvPr id="6" name="图片 5">
            <a:extLst>
              <a:ext uri="{FF2B5EF4-FFF2-40B4-BE49-F238E27FC236}">
                <a16:creationId xmlns:a16="http://schemas.microsoft.com/office/drawing/2014/main" id="{75CBF790-AD2F-D447-53D4-EF954188A1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6900" y="0"/>
            <a:ext cx="5438095" cy="5219048"/>
          </a:xfrm>
          <a:prstGeom prst="rect">
            <a:avLst/>
          </a:prstGeom>
        </p:spPr>
      </p:pic>
      <p:sp>
        <p:nvSpPr>
          <p:cNvPr id="8" name="文本框 7">
            <a:extLst>
              <a:ext uri="{FF2B5EF4-FFF2-40B4-BE49-F238E27FC236}">
                <a16:creationId xmlns:a16="http://schemas.microsoft.com/office/drawing/2014/main" id="{BE2BE5CB-07E0-CF29-4C0D-4D79F258A017}"/>
              </a:ext>
            </a:extLst>
          </p:cNvPr>
          <p:cNvSpPr txBox="1"/>
          <p:nvPr/>
        </p:nvSpPr>
        <p:spPr>
          <a:xfrm>
            <a:off x="5133295" y="5860752"/>
            <a:ext cx="6096000" cy="646331"/>
          </a:xfrm>
          <a:prstGeom prst="rect">
            <a:avLst/>
          </a:prstGeom>
          <a:noFill/>
        </p:spPr>
        <p:txBody>
          <a:bodyPr wrap="square">
            <a:spAutoFit/>
          </a:bodyPr>
          <a:lstStyle/>
          <a:p>
            <a:r>
              <a:rPr lang="zh-CN" altLang="en-US" b="1" i="1" dirty="0"/>
              <a:t>Fig. 3. </a:t>
            </a:r>
            <a:r>
              <a:rPr lang="zh-CN" altLang="en-US" dirty="0"/>
              <a:t>Paraphrasing with round-trip translation and mixture of experts.</a:t>
            </a:r>
          </a:p>
        </p:txBody>
      </p:sp>
    </p:spTree>
    <p:extLst>
      <p:ext uri="{BB962C8B-B14F-4D97-AF65-F5344CB8AC3E}">
        <p14:creationId xmlns:p14="http://schemas.microsoft.com/office/powerpoint/2010/main" val="4124421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C200E-9B22-632B-399C-2322CC92666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5FD0279-DED9-47D7-C8F3-933142CDFA4D}"/>
              </a:ext>
            </a:extLst>
          </p:cNvPr>
          <p:cNvSpPr/>
          <p:nvPr/>
        </p:nvSpPr>
        <p:spPr>
          <a:xfrm>
            <a:off x="-66675" y="1631816"/>
            <a:ext cx="12192000" cy="3438659"/>
          </a:xfrm>
          <a:prstGeom prst="rect">
            <a:avLst/>
          </a:prstGeom>
          <a:solidFill>
            <a:srgbClr val="012060"/>
          </a:solidFill>
          <a:ln>
            <a:noFill/>
          </a:ln>
          <a:effectLst>
            <a:outerShdw blurRad="381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文本框 2">
            <a:extLst>
              <a:ext uri="{FF2B5EF4-FFF2-40B4-BE49-F238E27FC236}">
                <a16:creationId xmlns:a16="http://schemas.microsoft.com/office/drawing/2014/main" id="{4D86CEA6-DDF6-ACBE-11D9-D0DFC3178B76}"/>
              </a:ext>
            </a:extLst>
          </p:cNvPr>
          <p:cNvSpPr txBox="1"/>
          <p:nvPr/>
        </p:nvSpPr>
        <p:spPr>
          <a:xfrm>
            <a:off x="2838451" y="2100413"/>
            <a:ext cx="6009884" cy="1960408"/>
          </a:xfrm>
          <a:prstGeom prst="rect">
            <a:avLst/>
          </a:prstGeom>
          <a:noFill/>
        </p:spPr>
        <p:txBody>
          <a:bodyPr wrap="square" rtlCol="0">
            <a:spAutoFit/>
          </a:bodyPr>
          <a:lstStyle/>
          <a:p>
            <a:pPr algn="ctr">
              <a:lnSpc>
                <a:spcPct val="150000"/>
              </a:lnSpc>
            </a:pPr>
            <a:r>
              <a:rPr lang="en-US" altLang="zh-CN" sz="4400" b="1" dirty="0">
                <a:solidFill>
                  <a:prstClr val="white"/>
                </a:solidFill>
                <a:latin typeface="方正舒体" panose="02010601030101010101" pitchFamily="2" charset="-122"/>
                <a:ea typeface="等线" panose="02010600030101010101" pitchFamily="2" charset="-122"/>
              </a:rPr>
              <a:t>PART 04  </a:t>
            </a:r>
          </a:p>
          <a:p>
            <a:pPr algn="ctr">
              <a:lnSpc>
                <a:spcPct val="150000"/>
              </a:lnSpc>
            </a:pPr>
            <a:r>
              <a:rPr lang="en-US" altLang="zh-CN" sz="4400" b="1" dirty="0">
                <a:solidFill>
                  <a:schemeClr val="bg1"/>
                </a:solidFill>
                <a:latin typeface="方正舒体" panose="02010601030101010101" pitchFamily="2" charset="-122"/>
              </a:rPr>
              <a:t>E</a:t>
            </a:r>
            <a:r>
              <a:rPr lang="zh-CN" altLang="zh-CN" sz="4400" b="1" dirty="0">
                <a:solidFill>
                  <a:schemeClr val="bg1"/>
                </a:solidFill>
                <a:latin typeface="方正舒体" panose="02010601030101010101" pitchFamily="2" charset="-122"/>
              </a:rPr>
              <a:t>xperimental </a:t>
            </a:r>
            <a:r>
              <a:rPr lang="en-US" altLang="zh-CN" sz="4400" b="1" dirty="0">
                <a:solidFill>
                  <a:schemeClr val="bg1"/>
                </a:solidFill>
                <a:latin typeface="方正舒体" panose="02010601030101010101" pitchFamily="2" charset="-122"/>
              </a:rPr>
              <a:t>R</a:t>
            </a:r>
            <a:r>
              <a:rPr lang="zh-CN" altLang="zh-CN" sz="4400" b="1" dirty="0">
                <a:solidFill>
                  <a:schemeClr val="bg1"/>
                </a:solidFill>
                <a:latin typeface="方正舒体" panose="02010601030101010101" pitchFamily="2" charset="-122"/>
              </a:rPr>
              <a:t>esult</a:t>
            </a:r>
            <a:endParaRPr lang="zh-CN" altLang="en-US" sz="4400" b="1" dirty="0">
              <a:solidFill>
                <a:schemeClr val="bg1"/>
              </a:solidFill>
              <a:latin typeface="方正舒体" panose="02010601030101010101" pitchFamily="2" charset="-122"/>
            </a:endParaRPr>
          </a:p>
        </p:txBody>
      </p:sp>
      <p:pic>
        <p:nvPicPr>
          <p:cNvPr id="6" name="内容占位符 5">
            <a:extLst>
              <a:ext uri="{FF2B5EF4-FFF2-40B4-BE49-F238E27FC236}">
                <a16:creationId xmlns:a16="http://schemas.microsoft.com/office/drawing/2014/main" id="{23EA9AC5-F8CA-C393-FBCC-6C50CE3CB3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086225" cy="1062419"/>
          </a:xfrm>
          <a:prstGeom prst="rect">
            <a:avLst/>
          </a:prstGeom>
        </p:spPr>
      </p:pic>
    </p:spTree>
    <p:extLst>
      <p:ext uri="{BB962C8B-B14F-4D97-AF65-F5344CB8AC3E}">
        <p14:creationId xmlns:p14="http://schemas.microsoft.com/office/powerpoint/2010/main" val="1528259574"/>
      </p:ext>
    </p:extLst>
  </p:cSld>
  <p:clrMapOvr>
    <a:masterClrMapping/>
  </p:clrMapOvr>
  <mc:AlternateContent xmlns:mc="http://schemas.openxmlformats.org/markup-compatibility/2006" xmlns:p14="http://schemas.microsoft.com/office/powerpoint/2010/main">
    <mc:Choice Requires="p14">
      <p:transition p14:dur="10" advClick="0" advTm="3000"/>
    </mc:Choice>
    <mc:Fallback xmlns="">
      <p:transition advClick="0"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A465C-2B64-6C9B-6AE7-886FF2AF017B}"/>
            </a:ext>
          </a:extLst>
        </p:cNvPr>
        <p:cNvGrpSpPr/>
        <p:nvPr/>
      </p:nvGrpSpPr>
      <p:grpSpPr>
        <a:xfrm>
          <a:off x="0" y="0"/>
          <a:ext cx="0" cy="0"/>
          <a:chOff x="0" y="0"/>
          <a:chExt cx="0" cy="0"/>
        </a:xfrm>
      </p:grpSpPr>
      <p:pic>
        <p:nvPicPr>
          <p:cNvPr id="5" name="内容占位符 5">
            <a:extLst>
              <a:ext uri="{FF2B5EF4-FFF2-40B4-BE49-F238E27FC236}">
                <a16:creationId xmlns:a16="http://schemas.microsoft.com/office/drawing/2014/main" id="{3DFF6A56-A253-6AC3-019F-06BE874EA2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4086225" cy="1062419"/>
          </a:xfrm>
          <a:prstGeom prst="rect">
            <a:avLst/>
          </a:prstGeom>
        </p:spPr>
      </p:pic>
      <p:sp>
        <p:nvSpPr>
          <p:cNvPr id="8" name="文本框 7">
            <a:extLst>
              <a:ext uri="{FF2B5EF4-FFF2-40B4-BE49-F238E27FC236}">
                <a16:creationId xmlns:a16="http://schemas.microsoft.com/office/drawing/2014/main" id="{02EDAC39-C1C8-E9C8-AA09-D7633EEB8D45}"/>
              </a:ext>
            </a:extLst>
          </p:cNvPr>
          <p:cNvSpPr txBox="1"/>
          <p:nvPr/>
        </p:nvSpPr>
        <p:spPr>
          <a:xfrm>
            <a:off x="457200" y="1425059"/>
            <a:ext cx="6096000" cy="369332"/>
          </a:xfrm>
          <a:prstGeom prst="rect">
            <a:avLst/>
          </a:prstGeom>
          <a:noFill/>
        </p:spPr>
        <p:txBody>
          <a:bodyPr wrap="square">
            <a:spAutoFit/>
          </a:bodyPr>
          <a:lstStyle/>
          <a:p>
            <a:r>
              <a:rPr lang="en-US" altLang="zh-CN" b="1" dirty="0"/>
              <a:t>E</a:t>
            </a:r>
            <a:r>
              <a:rPr lang="zh-CN" altLang="en-US" b="1" dirty="0"/>
              <a:t>valuation Metrics</a:t>
            </a:r>
          </a:p>
        </p:txBody>
      </p:sp>
      <p:sp>
        <p:nvSpPr>
          <p:cNvPr id="10" name="文本框 9">
            <a:extLst>
              <a:ext uri="{FF2B5EF4-FFF2-40B4-BE49-F238E27FC236}">
                <a16:creationId xmlns:a16="http://schemas.microsoft.com/office/drawing/2014/main" id="{1E88A795-7A1A-0BCD-586A-C7AF0CD8143C}"/>
              </a:ext>
            </a:extLst>
          </p:cNvPr>
          <p:cNvSpPr txBox="1"/>
          <p:nvPr/>
        </p:nvSpPr>
        <p:spPr>
          <a:xfrm>
            <a:off x="619125" y="1997839"/>
            <a:ext cx="10306050" cy="2031325"/>
          </a:xfrm>
          <a:prstGeom prst="rect">
            <a:avLst/>
          </a:prstGeom>
          <a:noFill/>
        </p:spPr>
        <p:txBody>
          <a:bodyPr wrap="square">
            <a:spAutoFit/>
          </a:bodyPr>
          <a:lstStyle/>
          <a:p>
            <a:pPr algn="just"/>
            <a:r>
              <a:rPr lang="zh-CN" altLang="en-US" dirty="0"/>
              <a:t>We employ four standard clustering metrics: Accuracy (</a:t>
            </a:r>
            <a:r>
              <a:rPr lang="zh-CN" altLang="en-US" b="1" dirty="0"/>
              <a:t>ACC</a:t>
            </a:r>
            <a:r>
              <a:rPr lang="zh-CN" altLang="en-US" dirty="0"/>
              <a:t>) measures agreement between predicted assignments and ground truth categories. Normalized Mutual Information(</a:t>
            </a:r>
            <a:r>
              <a:rPr lang="zh-CN" altLang="en-US" b="1" dirty="0"/>
              <a:t>NMI</a:t>
            </a:r>
            <a:r>
              <a:rPr lang="zh-CN" altLang="en-US" dirty="0"/>
              <a:t>) quantifies information correlation between clustering results and true labels (0-1 range). Adjusted Rand Index (</a:t>
            </a:r>
            <a:r>
              <a:rPr lang="zh-CN" altLang="en-US" b="1" dirty="0"/>
              <a:t>ARI</a:t>
            </a:r>
            <a:r>
              <a:rPr lang="zh-CN" altLang="en-US" dirty="0"/>
              <a:t>) evaluates consistency while correcting for chance (-1 to 1 range). Adjusted Mutual Information (</a:t>
            </a:r>
            <a:r>
              <a:rPr lang="zh-CN" altLang="en-US" b="1" dirty="0"/>
              <a:t>AMI</a:t>
            </a:r>
            <a:r>
              <a:rPr lang="zh-CN" altLang="en-US" dirty="0"/>
              <a:t>) functions like NMI with random clustering adjustment (0-1 range). Based on the short text clustering complexity, we prioritize ACC and NMI for model comparison, providing complementary perspectives through direct category matching and information-theoretic relationships, respectively.</a:t>
            </a:r>
          </a:p>
        </p:txBody>
      </p:sp>
    </p:spTree>
    <p:extLst>
      <p:ext uri="{BB962C8B-B14F-4D97-AF65-F5344CB8AC3E}">
        <p14:creationId xmlns:p14="http://schemas.microsoft.com/office/powerpoint/2010/main" val="2042464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A23FC-30CC-4545-EF49-165102973060}"/>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6C763E1B-FD72-9565-05D4-A3CA2A68CD0F}"/>
              </a:ext>
            </a:extLst>
          </p:cNvPr>
          <p:cNvSpPr txBox="1"/>
          <p:nvPr/>
        </p:nvSpPr>
        <p:spPr>
          <a:xfrm>
            <a:off x="628649" y="1273337"/>
            <a:ext cx="6096000" cy="369332"/>
          </a:xfrm>
          <a:prstGeom prst="rect">
            <a:avLst/>
          </a:prstGeom>
          <a:noFill/>
        </p:spPr>
        <p:txBody>
          <a:bodyPr wrap="square">
            <a:spAutoFit/>
          </a:bodyPr>
          <a:lstStyle/>
          <a:p>
            <a:r>
              <a:rPr lang="en-US" altLang="zh-CN" b="1" dirty="0"/>
              <a:t>C</a:t>
            </a:r>
            <a:r>
              <a:rPr lang="zh-CN" altLang="en-US" b="1" dirty="0"/>
              <a:t>omparison with State-of-the-art Methods</a:t>
            </a:r>
          </a:p>
        </p:txBody>
      </p:sp>
      <p:sp>
        <p:nvSpPr>
          <p:cNvPr id="14" name="文本框 13">
            <a:extLst>
              <a:ext uri="{FF2B5EF4-FFF2-40B4-BE49-F238E27FC236}">
                <a16:creationId xmlns:a16="http://schemas.microsoft.com/office/drawing/2014/main" id="{FE771497-C78B-946D-F53A-C58F8EC41B28}"/>
              </a:ext>
            </a:extLst>
          </p:cNvPr>
          <p:cNvSpPr txBox="1"/>
          <p:nvPr/>
        </p:nvSpPr>
        <p:spPr>
          <a:xfrm>
            <a:off x="704849" y="2180746"/>
            <a:ext cx="10391775" cy="369332"/>
          </a:xfrm>
          <a:prstGeom prst="rect">
            <a:avLst/>
          </a:prstGeom>
          <a:noFill/>
        </p:spPr>
        <p:txBody>
          <a:bodyPr wrap="square">
            <a:spAutoFit/>
          </a:bodyPr>
          <a:lstStyle/>
          <a:p>
            <a:r>
              <a:rPr lang="zh-CN" altLang="en-US" dirty="0"/>
              <a:t>We compare against several established approaches for short text clustering evaluation.</a:t>
            </a:r>
          </a:p>
        </p:txBody>
      </p:sp>
      <p:sp>
        <p:nvSpPr>
          <p:cNvPr id="16" name="文本框 15">
            <a:extLst>
              <a:ext uri="{FF2B5EF4-FFF2-40B4-BE49-F238E27FC236}">
                <a16:creationId xmlns:a16="http://schemas.microsoft.com/office/drawing/2014/main" id="{FCAB2E50-67BF-CE79-1FD0-9D40D231F012}"/>
              </a:ext>
            </a:extLst>
          </p:cNvPr>
          <p:cNvSpPr txBox="1"/>
          <p:nvPr/>
        </p:nvSpPr>
        <p:spPr>
          <a:xfrm rot="10800000" flipV="1">
            <a:off x="704849" y="2844881"/>
            <a:ext cx="9839323" cy="3416320"/>
          </a:xfrm>
          <a:prstGeom prst="rect">
            <a:avLst/>
          </a:prstGeom>
          <a:noFill/>
        </p:spPr>
        <p:txBody>
          <a:bodyPr wrap="square" rtlCol="0">
            <a:spAutoFit/>
          </a:bodyPr>
          <a:lstStyle/>
          <a:p>
            <a:pPr algn="just"/>
            <a:r>
              <a:rPr lang="en-US" altLang="zh-CN" b="1" dirty="0"/>
              <a:t>STCC</a:t>
            </a:r>
            <a:r>
              <a:rPr lang="en-US" altLang="zh-CN" dirty="0"/>
              <a:t> employs three-stage optimization: Word2Vec pretraining on in-domain corpus, CNN-based representation enrichment, and K-means clustering. </a:t>
            </a:r>
            <a:r>
              <a:rPr lang="en-US" altLang="zh-CN" b="1" dirty="0"/>
              <a:t>Self-Train</a:t>
            </a:r>
            <a:r>
              <a:rPr lang="en-US" altLang="zh-CN" dirty="0"/>
              <a:t> enhances pretrained embeddings using layer-wise pretrained autoencoders with clustering objectives and interval-based target distribution updates. </a:t>
            </a:r>
            <a:r>
              <a:rPr lang="en-US" altLang="zh-CN" b="1" dirty="0" err="1"/>
              <a:t>SimCTC</a:t>
            </a:r>
            <a:r>
              <a:rPr lang="en-US" altLang="zh-CN" dirty="0"/>
              <a:t> proposes simple contrastive learning for text clustering improvement. </a:t>
            </a:r>
            <a:r>
              <a:rPr lang="en-US" altLang="zh-CN" b="1" dirty="0"/>
              <a:t>HAC-SD</a:t>
            </a:r>
            <a:r>
              <a:rPr lang="en-US" altLang="zh-CN" dirty="0"/>
              <a:t> applies hierarchical agglomerative clustering on sparse pairwise similarity matrices with threshold-based pruning. </a:t>
            </a:r>
            <a:r>
              <a:rPr lang="en-US" altLang="zh-CN" b="1" dirty="0" err="1"/>
              <a:t>BoW&amp;TF-IDF</a:t>
            </a:r>
            <a:r>
              <a:rPr lang="en-US" altLang="zh-CN" b="1" dirty="0"/>
              <a:t> </a:t>
            </a:r>
            <a:r>
              <a:rPr lang="en-US" altLang="zh-CN" dirty="0"/>
              <a:t>applies K-means on 1500-dimensional traditional features. </a:t>
            </a:r>
            <a:r>
              <a:rPr lang="en-US" altLang="zh-CN" b="1" dirty="0"/>
              <a:t>SCCL</a:t>
            </a:r>
            <a:r>
              <a:rPr lang="en-US" altLang="zh-CN" dirty="0"/>
              <a:t> introduces the Supporting Clustering with Contrastive Learning framework for better separation.</a:t>
            </a:r>
            <a:r>
              <a:rPr lang="en-US" altLang="zh-CN" b="1" dirty="0"/>
              <a:t> DACL </a:t>
            </a:r>
            <a:r>
              <a:rPr lang="en-US" altLang="zh-CN" dirty="0"/>
              <a:t>improves SCCL through pseudo-label enhancement.</a:t>
            </a:r>
          </a:p>
          <a:p>
            <a:endParaRPr lang="en-US" altLang="zh-CN" dirty="0"/>
          </a:p>
          <a:p>
            <a:endParaRPr lang="en-US" altLang="zh-CN" dirty="0"/>
          </a:p>
          <a:p>
            <a:pPr algn="just"/>
            <a:r>
              <a:rPr lang="en-US" altLang="zh-CN" dirty="0"/>
              <a:t>Our method achieves superior performance by updating target distributions at each iteration, demonstrating significant improvements over multi-stage and hierarchical approaches.</a:t>
            </a:r>
            <a:endParaRPr lang="zh-CN" altLang="en-US" dirty="0"/>
          </a:p>
        </p:txBody>
      </p:sp>
      <p:pic>
        <p:nvPicPr>
          <p:cNvPr id="17" name="内容占位符 5">
            <a:extLst>
              <a:ext uri="{FF2B5EF4-FFF2-40B4-BE49-F238E27FC236}">
                <a16:creationId xmlns:a16="http://schemas.microsoft.com/office/drawing/2014/main" id="{CCA9BDE1-33D6-4A80-6646-32A5EAA87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4086225" cy="1062419"/>
          </a:xfrm>
          <a:prstGeom prst="rect">
            <a:avLst/>
          </a:prstGeom>
        </p:spPr>
      </p:pic>
    </p:spTree>
    <p:extLst>
      <p:ext uri="{BB962C8B-B14F-4D97-AF65-F5344CB8AC3E}">
        <p14:creationId xmlns:p14="http://schemas.microsoft.com/office/powerpoint/2010/main" val="2277332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4F1F8-AB6F-C007-F20E-AFCB9950DF70}"/>
            </a:ext>
          </a:extLst>
        </p:cNvPr>
        <p:cNvGrpSpPr/>
        <p:nvPr/>
      </p:nvGrpSpPr>
      <p:grpSpPr>
        <a:xfrm>
          <a:off x="0" y="0"/>
          <a:ext cx="0" cy="0"/>
          <a:chOff x="0" y="0"/>
          <a:chExt cx="0" cy="0"/>
        </a:xfrm>
      </p:grpSpPr>
      <p:pic>
        <p:nvPicPr>
          <p:cNvPr id="6" name="内容占位符 5">
            <a:extLst>
              <a:ext uri="{FF2B5EF4-FFF2-40B4-BE49-F238E27FC236}">
                <a16:creationId xmlns:a16="http://schemas.microsoft.com/office/drawing/2014/main" id="{F24D2F8B-7C35-7959-30E4-C5E69ED5C1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4086225" cy="1062419"/>
          </a:xfrm>
          <a:prstGeom prst="rect">
            <a:avLst/>
          </a:prstGeom>
        </p:spPr>
      </p:pic>
      <p:sp>
        <p:nvSpPr>
          <p:cNvPr id="9" name="文本框 8">
            <a:extLst>
              <a:ext uri="{FF2B5EF4-FFF2-40B4-BE49-F238E27FC236}">
                <a16:creationId xmlns:a16="http://schemas.microsoft.com/office/drawing/2014/main" id="{9506493A-E450-D043-FA46-BE0BF47CB545}"/>
              </a:ext>
            </a:extLst>
          </p:cNvPr>
          <p:cNvSpPr txBox="1"/>
          <p:nvPr/>
        </p:nvSpPr>
        <p:spPr>
          <a:xfrm>
            <a:off x="619125" y="1244084"/>
            <a:ext cx="6096000" cy="369332"/>
          </a:xfrm>
          <a:prstGeom prst="rect">
            <a:avLst/>
          </a:prstGeom>
          <a:noFill/>
        </p:spPr>
        <p:txBody>
          <a:bodyPr wrap="square">
            <a:spAutoFit/>
          </a:bodyPr>
          <a:lstStyle/>
          <a:p>
            <a:r>
              <a:rPr lang="zh-CN" altLang="en-US" b="1" dirty="0"/>
              <a:t>Approach Comparison</a:t>
            </a:r>
          </a:p>
        </p:txBody>
      </p:sp>
      <p:sp>
        <p:nvSpPr>
          <p:cNvPr id="11" name="文本框 10">
            <a:extLst>
              <a:ext uri="{FF2B5EF4-FFF2-40B4-BE49-F238E27FC236}">
                <a16:creationId xmlns:a16="http://schemas.microsoft.com/office/drawing/2014/main" id="{514776D3-672C-5D01-4991-CC3C998F8C01}"/>
              </a:ext>
            </a:extLst>
          </p:cNvPr>
          <p:cNvSpPr txBox="1"/>
          <p:nvPr/>
        </p:nvSpPr>
        <p:spPr>
          <a:xfrm>
            <a:off x="6977062" y="1613416"/>
            <a:ext cx="4438798" cy="1077218"/>
          </a:xfrm>
          <a:prstGeom prst="rect">
            <a:avLst/>
          </a:prstGeom>
          <a:noFill/>
        </p:spPr>
        <p:txBody>
          <a:bodyPr wrap="square">
            <a:spAutoFit/>
          </a:bodyPr>
          <a:lstStyle/>
          <a:p>
            <a:pPr algn="just"/>
            <a:r>
              <a:rPr lang="zh-CN" altLang="en-US" sz="1600" dirty="0"/>
              <a:t>We demonstrate robustness by avoiding preprocessing on all datasets, while most baselines employ extensive text normalization procedures.</a:t>
            </a:r>
          </a:p>
        </p:txBody>
      </p:sp>
      <p:sp>
        <p:nvSpPr>
          <p:cNvPr id="13" name="文本框 12">
            <a:extLst>
              <a:ext uri="{FF2B5EF4-FFF2-40B4-BE49-F238E27FC236}">
                <a16:creationId xmlns:a16="http://schemas.microsoft.com/office/drawing/2014/main" id="{48E270BD-B087-9627-56DC-A0AADDBFE624}"/>
              </a:ext>
            </a:extLst>
          </p:cNvPr>
          <p:cNvSpPr txBox="1"/>
          <p:nvPr/>
        </p:nvSpPr>
        <p:spPr>
          <a:xfrm>
            <a:off x="6977063" y="2721413"/>
            <a:ext cx="4557712" cy="2800767"/>
          </a:xfrm>
          <a:prstGeom prst="rect">
            <a:avLst/>
          </a:prstGeom>
          <a:noFill/>
        </p:spPr>
        <p:txBody>
          <a:bodyPr wrap="square">
            <a:spAutoFit/>
          </a:bodyPr>
          <a:lstStyle/>
          <a:p>
            <a:pPr algn="just"/>
            <a:r>
              <a:rPr lang="zh-CN" altLang="en-US" sz="1600" dirty="0"/>
              <a:t>Table 2 shows that ISCST achieves superior performance across most datasets. Notable exceptions provide valuable insights: Hadifar et al.  outperforms on Biomedical due to domain-specific word embeddings trained on biomedical corpora and layer-wise pretrained autoencoders, contrasting with our general-purpose sentence transformers.</a:t>
            </a:r>
            <a:endParaRPr lang="en-US" altLang="zh-CN" sz="1600" dirty="0"/>
          </a:p>
          <a:p>
            <a:pPr algn="just"/>
            <a:endParaRPr lang="en-US" altLang="zh-CN" sz="1600" dirty="0"/>
          </a:p>
          <a:p>
            <a:pPr algn="just"/>
            <a:r>
              <a:rPr lang="zh-CN" altLang="en-US" sz="1600" dirty="0"/>
              <a:t>Importantly, our approach offers superior scalability for large-scale applications.</a:t>
            </a:r>
          </a:p>
        </p:txBody>
      </p:sp>
      <p:pic>
        <p:nvPicPr>
          <p:cNvPr id="14" name="图片 13">
            <a:extLst>
              <a:ext uri="{FF2B5EF4-FFF2-40B4-BE49-F238E27FC236}">
                <a16:creationId xmlns:a16="http://schemas.microsoft.com/office/drawing/2014/main" id="{AA46F243-4A49-B1BF-F8D5-13B111D834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81" y="1842708"/>
            <a:ext cx="6952381" cy="4819048"/>
          </a:xfrm>
          <a:prstGeom prst="rect">
            <a:avLst/>
          </a:prstGeom>
        </p:spPr>
      </p:pic>
    </p:spTree>
    <p:extLst>
      <p:ext uri="{BB962C8B-B14F-4D97-AF65-F5344CB8AC3E}">
        <p14:creationId xmlns:p14="http://schemas.microsoft.com/office/powerpoint/2010/main" val="2528054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BCB80-197A-A9E9-15CB-CDBA6E81875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08A2C0AC-C187-1E7B-9D36-C8DCC57B72BE}"/>
              </a:ext>
            </a:extLst>
          </p:cNvPr>
          <p:cNvSpPr/>
          <p:nvPr/>
        </p:nvSpPr>
        <p:spPr>
          <a:xfrm>
            <a:off x="0" y="1603241"/>
            <a:ext cx="12192000" cy="3438659"/>
          </a:xfrm>
          <a:prstGeom prst="rect">
            <a:avLst/>
          </a:prstGeom>
          <a:solidFill>
            <a:srgbClr val="012060"/>
          </a:solidFill>
          <a:ln>
            <a:noFill/>
          </a:ln>
          <a:effectLst>
            <a:outerShdw blurRad="381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文本框 2">
            <a:extLst>
              <a:ext uri="{FF2B5EF4-FFF2-40B4-BE49-F238E27FC236}">
                <a16:creationId xmlns:a16="http://schemas.microsoft.com/office/drawing/2014/main" id="{526386B8-9D34-0D39-1E2F-7CC0DC0BED8B}"/>
              </a:ext>
            </a:extLst>
          </p:cNvPr>
          <p:cNvSpPr txBox="1"/>
          <p:nvPr/>
        </p:nvSpPr>
        <p:spPr>
          <a:xfrm>
            <a:off x="1905000" y="2111388"/>
            <a:ext cx="8191499" cy="1960408"/>
          </a:xfrm>
          <a:prstGeom prst="rect">
            <a:avLst/>
          </a:prstGeom>
          <a:noFill/>
        </p:spPr>
        <p:txBody>
          <a:bodyPr wrap="square" rtlCol="0">
            <a:spAutoFit/>
          </a:bodyPr>
          <a:lstStyle>
            <a:defPPr>
              <a:defRPr lang="zh-CN"/>
            </a:defPPr>
            <a:lvl1pPr algn="ctr">
              <a:lnSpc>
                <a:spcPct val="150000"/>
              </a:lnSpc>
              <a:defRPr sz="4400" b="1">
                <a:solidFill>
                  <a:prstClr val="white"/>
                </a:solidFill>
                <a:latin typeface="方正舒体" panose="02010601030101010101" pitchFamily="2" charset="-122"/>
                <a:ea typeface="等线" panose="02010600030101010101" pitchFamily="2" charset="-122"/>
              </a:defRPr>
            </a:lvl1pPr>
          </a:lstStyle>
          <a:p>
            <a:r>
              <a:rPr lang="en-US" altLang="zh-CN" dirty="0"/>
              <a:t>PART 05 </a:t>
            </a:r>
          </a:p>
          <a:p>
            <a:r>
              <a:rPr lang="en-US" altLang="zh-CN" dirty="0"/>
              <a:t>Conclusion and Future Work</a:t>
            </a:r>
            <a:endParaRPr lang="zh-CN" altLang="en-US" dirty="0"/>
          </a:p>
        </p:txBody>
      </p:sp>
      <p:pic>
        <p:nvPicPr>
          <p:cNvPr id="5" name="内容占位符 5">
            <a:extLst>
              <a:ext uri="{FF2B5EF4-FFF2-40B4-BE49-F238E27FC236}">
                <a16:creationId xmlns:a16="http://schemas.microsoft.com/office/drawing/2014/main" id="{F7B25EE4-FC59-C383-5EF6-EA9810710D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086225" cy="1062419"/>
          </a:xfrm>
          <a:prstGeom prst="rect">
            <a:avLst/>
          </a:prstGeom>
        </p:spPr>
      </p:pic>
    </p:spTree>
    <p:extLst>
      <p:ext uri="{BB962C8B-B14F-4D97-AF65-F5344CB8AC3E}">
        <p14:creationId xmlns:p14="http://schemas.microsoft.com/office/powerpoint/2010/main" val="1869960734"/>
      </p:ext>
    </p:extLst>
  </p:cSld>
  <p:clrMapOvr>
    <a:masterClrMapping/>
  </p:clrMapOvr>
  <mc:AlternateContent xmlns:mc="http://schemas.openxmlformats.org/markup-compatibility/2006" xmlns:p14="http://schemas.microsoft.com/office/powerpoint/2010/main">
    <mc:Choice Requires="p14">
      <p:transition p14:dur="10" advClick="0" advTm="3000"/>
    </mc:Choice>
    <mc:Fallback xmlns="">
      <p:transition advClick="0" advTm="3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5">
            <a:extLst>
              <a:ext uri="{FF2B5EF4-FFF2-40B4-BE49-F238E27FC236}">
                <a16:creationId xmlns:a16="http://schemas.microsoft.com/office/drawing/2014/main" id="{87F6EB98-4690-5AA3-217B-F59310F2E6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4086225" cy="1062419"/>
          </a:xfrm>
          <a:prstGeom prst="rect">
            <a:avLst/>
          </a:prstGeom>
        </p:spPr>
      </p:pic>
      <p:sp>
        <p:nvSpPr>
          <p:cNvPr id="8" name="文本框 7">
            <a:extLst>
              <a:ext uri="{FF2B5EF4-FFF2-40B4-BE49-F238E27FC236}">
                <a16:creationId xmlns:a16="http://schemas.microsoft.com/office/drawing/2014/main" id="{21C911A3-DA02-3183-5FC3-BCD6649AD2E1}"/>
              </a:ext>
            </a:extLst>
          </p:cNvPr>
          <p:cNvSpPr txBox="1"/>
          <p:nvPr/>
        </p:nvSpPr>
        <p:spPr>
          <a:xfrm>
            <a:off x="323850" y="2010966"/>
            <a:ext cx="11334750" cy="2031325"/>
          </a:xfrm>
          <a:prstGeom prst="rect">
            <a:avLst/>
          </a:prstGeom>
          <a:noFill/>
        </p:spPr>
        <p:txBody>
          <a:bodyPr wrap="square">
            <a:spAutoFit/>
          </a:bodyPr>
          <a:lstStyle/>
          <a:p>
            <a:r>
              <a:rPr lang="zh-CN" altLang="en-US" dirty="0"/>
              <a:t>We propose ISCST, a novel framework that leverages instance-wise contrastive learning to enhance unsupervised clustering with sentence-transformers. Evaluated across eight benchmark short-text datasets, our model substantially outperforms state-of-the-art methods. Ablation studies validate the effectiveness of integrating bottom-up instance discrimination with top-down clustering, generating high-quality clusters with improved intra- and inter-cluster distances. While evaluated on the short texts domain, our generic framework applies to various text clustering problems. Future work will explore data mixing strategies to address natural language’s discrete nature and augmentation challenges.</a:t>
            </a:r>
          </a:p>
        </p:txBody>
      </p:sp>
    </p:spTree>
    <p:extLst>
      <p:ext uri="{BB962C8B-B14F-4D97-AF65-F5344CB8AC3E}">
        <p14:creationId xmlns:p14="http://schemas.microsoft.com/office/powerpoint/2010/main" val="2166670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617" y="1511928"/>
            <a:ext cx="12192000" cy="3438659"/>
          </a:xfrm>
          <a:prstGeom prst="rect">
            <a:avLst/>
          </a:prstGeom>
          <a:solidFill>
            <a:srgbClr val="012060"/>
          </a:solidFill>
          <a:ln>
            <a:noFill/>
          </a:ln>
          <a:effectLst>
            <a:outerShdw blurRad="127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 name="文本框 8"/>
          <p:cNvSpPr txBox="1"/>
          <p:nvPr/>
        </p:nvSpPr>
        <p:spPr>
          <a:xfrm>
            <a:off x="3856506" y="2575542"/>
            <a:ext cx="7236700" cy="523220"/>
          </a:xfrm>
          <a:prstGeom prst="rect">
            <a:avLst/>
          </a:prstGeom>
          <a:noFill/>
        </p:spPr>
        <p:txBody>
          <a:bodyPr wrap="square" rtlCol="0">
            <a:spAutoFit/>
          </a:bodyPr>
          <a:lstStyle/>
          <a:p>
            <a:r>
              <a:rPr lang="zh-CN" altLang="zh-CN" sz="2800" dirty="0">
                <a:solidFill>
                  <a:schemeClr val="bg1"/>
                </a:solidFill>
              </a:rPr>
              <a:t>We sincerely invite experts to raise questions</a:t>
            </a:r>
            <a:endParaRPr lang="zh-CN" altLang="en-US" sz="2800" b="1" dirty="0">
              <a:solidFill>
                <a:schemeClr val="bg1"/>
              </a:solidFill>
              <a:effectLst>
                <a:outerShdw blurRad="38100" sx="105000" sy="105000" algn="ctr" rotWithShape="0">
                  <a:srgbClr val="E7E6E6">
                    <a:lumMod val="50000"/>
                    <a:alpha val="40000"/>
                  </a:srgbClr>
                </a:outerShdw>
              </a:effectLst>
              <a:latin typeface="等线" panose="02010600030101010101" pitchFamily="2" charset="-122"/>
              <a:ea typeface="等线" panose="02010600030101010101" pitchFamily="2" charset="-122"/>
            </a:endParaRPr>
          </a:p>
        </p:txBody>
      </p:sp>
      <p:cxnSp>
        <p:nvCxnSpPr>
          <p:cNvPr id="12" name="直接连接符 11"/>
          <p:cNvCxnSpPr/>
          <p:nvPr/>
        </p:nvCxnSpPr>
        <p:spPr>
          <a:xfrm>
            <a:off x="4165599" y="2396642"/>
            <a:ext cx="6618515" cy="0"/>
          </a:xfrm>
          <a:prstGeom prst="line">
            <a:avLst/>
          </a:prstGeom>
          <a:ln>
            <a:solidFill>
              <a:schemeClr val="bg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165599" y="3329014"/>
            <a:ext cx="6618515" cy="0"/>
          </a:xfrm>
          <a:prstGeom prst="line">
            <a:avLst/>
          </a:prstGeom>
          <a:ln>
            <a:solidFill>
              <a:schemeClr val="bg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844863" y="4102238"/>
            <a:ext cx="9785161" cy="369332"/>
          </a:xfrm>
          <a:prstGeom prst="rect">
            <a:avLst/>
          </a:prstGeom>
          <a:noFill/>
        </p:spPr>
        <p:txBody>
          <a:bodyPr wrap="square" rtlCol="0">
            <a:spAutoFit/>
          </a:bodyPr>
          <a:lstStyle/>
          <a:p>
            <a:pPr algn="ctr"/>
            <a:r>
              <a:rPr lang="en-US" altLang="zh-CN" dirty="0">
                <a:solidFill>
                  <a:srgbClr val="E7E6E6">
                    <a:lumMod val="50000"/>
                  </a:srgbClr>
                </a:solidFill>
                <a:latin typeface="等线" panose="02010600030101010101" pitchFamily="2" charset="-122"/>
              </a:rPr>
              <a:t>Conference Presenters</a:t>
            </a:r>
            <a:r>
              <a:rPr lang="zh-CN" altLang="en-US" dirty="0">
                <a:solidFill>
                  <a:srgbClr val="E7E6E6">
                    <a:lumMod val="50000"/>
                  </a:srgbClr>
                </a:solidFill>
                <a:latin typeface="等线" panose="02010600030101010101" pitchFamily="2" charset="-122"/>
                <a:ea typeface="等线" panose="02010600030101010101" pitchFamily="2" charset="-122"/>
              </a:rPr>
              <a:t>：</a:t>
            </a:r>
            <a:r>
              <a:rPr lang="en-US" altLang="zh-CN" dirty="0">
                <a:solidFill>
                  <a:schemeClr val="bg1"/>
                </a:solidFill>
                <a:latin typeface="等线" panose="02010600030101010101" pitchFamily="2" charset="-122"/>
              </a:rPr>
              <a:t> </a:t>
            </a:r>
            <a:r>
              <a:rPr lang="en-US" altLang="zh-CN" dirty="0" err="1">
                <a:solidFill>
                  <a:schemeClr val="bg1"/>
                </a:solidFill>
                <a:latin typeface="等线" panose="02010600030101010101" pitchFamily="2" charset="-122"/>
              </a:rPr>
              <a:t>Kongqiang</a:t>
            </a:r>
            <a:r>
              <a:rPr lang="en-US" altLang="zh-CN" dirty="0">
                <a:solidFill>
                  <a:schemeClr val="bg1"/>
                </a:solidFill>
                <a:latin typeface="等线" panose="02010600030101010101" pitchFamily="2" charset="-122"/>
              </a:rPr>
              <a:t> Wang</a:t>
            </a:r>
            <a:r>
              <a:rPr lang="en-US" altLang="zh-CN" dirty="0">
                <a:solidFill>
                  <a:srgbClr val="E7E6E6">
                    <a:lumMod val="50000"/>
                  </a:srgbClr>
                </a:solidFill>
                <a:latin typeface="等线" panose="02010600030101010101" pitchFamily="2" charset="-122"/>
                <a:ea typeface="等线" panose="02010600030101010101" pitchFamily="2" charset="-122"/>
              </a:rPr>
              <a:t>          C</a:t>
            </a:r>
            <a:r>
              <a:rPr lang="en-US" altLang="zh-CN" dirty="0">
                <a:solidFill>
                  <a:srgbClr val="E7E6E6">
                    <a:lumMod val="50000"/>
                  </a:srgbClr>
                </a:solidFill>
                <a:latin typeface="等线" panose="02010600030101010101" pitchFamily="2" charset="-122"/>
              </a:rPr>
              <a:t>orresponding Author: </a:t>
            </a:r>
            <a:r>
              <a:rPr lang="en-US" altLang="zh-CN" dirty="0">
                <a:solidFill>
                  <a:schemeClr val="bg1"/>
                </a:solidFill>
                <a:latin typeface="等线" panose="02010600030101010101" pitchFamily="2" charset="-122"/>
              </a:rPr>
              <a:t>Xiaobing Zhou</a:t>
            </a:r>
            <a:endParaRPr lang="zh-CN" altLang="en-US" dirty="0">
              <a:solidFill>
                <a:schemeClr val="bg1"/>
              </a:solidFill>
              <a:latin typeface="等线" panose="02010600030101010101" pitchFamily="2" charset="-122"/>
              <a:ea typeface="等线" panose="02010600030101010101" pitchFamily="2" charset="-122"/>
            </a:endParaRPr>
          </a:p>
        </p:txBody>
      </p:sp>
      <p:grpSp>
        <p:nvGrpSpPr>
          <p:cNvPr id="14" name="组合 13"/>
          <p:cNvGrpSpPr/>
          <p:nvPr/>
        </p:nvGrpSpPr>
        <p:grpSpPr>
          <a:xfrm>
            <a:off x="2201396" y="3783573"/>
            <a:ext cx="342764" cy="342764"/>
            <a:chOff x="4688155" y="5875923"/>
            <a:chExt cx="342764" cy="342764"/>
          </a:xfrm>
        </p:grpSpPr>
        <p:sp>
          <p:nvSpPr>
            <p:cNvPr id="15" name="椭圆 14"/>
            <p:cNvSpPr/>
            <p:nvPr/>
          </p:nvSpPr>
          <p:spPr>
            <a:xfrm>
              <a:off x="4688155" y="5875923"/>
              <a:ext cx="342764" cy="342764"/>
            </a:xfrm>
            <a:prstGeom prst="ellipse">
              <a:avLst/>
            </a:prstGeom>
            <a:solidFill>
              <a:srgbClr val="01206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grpSp>
          <p:nvGrpSpPr>
            <p:cNvPr id="16" name="组合 15"/>
            <p:cNvGrpSpPr/>
            <p:nvPr/>
          </p:nvGrpSpPr>
          <p:grpSpPr>
            <a:xfrm>
              <a:off x="4763028" y="5947390"/>
              <a:ext cx="193018" cy="199830"/>
              <a:chOff x="5753100" y="3041650"/>
              <a:chExt cx="682626" cy="771526"/>
            </a:xfrm>
            <a:solidFill>
              <a:schemeClr val="accent1"/>
            </a:solidFill>
          </p:grpSpPr>
          <p:sp>
            <p:nvSpPr>
              <p:cNvPr id="17" name="Oval 202"/>
              <p:cNvSpPr>
                <a:spLocks noChangeArrowheads="1"/>
              </p:cNvSpPr>
              <p:nvPr/>
            </p:nvSpPr>
            <p:spPr bwMode="auto">
              <a:xfrm>
                <a:off x="5908675" y="3041650"/>
                <a:ext cx="119063" cy="1476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8" name="Freeform 203"/>
              <p:cNvSpPr/>
              <p:nvPr/>
            </p:nvSpPr>
            <p:spPr bwMode="auto">
              <a:xfrm>
                <a:off x="6103938" y="3413125"/>
                <a:ext cx="46038" cy="84138"/>
              </a:xfrm>
              <a:custGeom>
                <a:avLst/>
                <a:gdLst>
                  <a:gd name="T0" fmla="*/ 2 w 12"/>
                  <a:gd name="T1" fmla="*/ 22 h 22"/>
                  <a:gd name="T2" fmla="*/ 10 w 12"/>
                  <a:gd name="T3" fmla="*/ 22 h 22"/>
                  <a:gd name="T4" fmla="*/ 12 w 12"/>
                  <a:gd name="T5" fmla="*/ 20 h 22"/>
                  <a:gd name="T6" fmla="*/ 12 w 12"/>
                  <a:gd name="T7" fmla="*/ 2 h 22"/>
                  <a:gd name="T8" fmla="*/ 10 w 12"/>
                  <a:gd name="T9" fmla="*/ 0 h 22"/>
                  <a:gd name="T10" fmla="*/ 2 w 12"/>
                  <a:gd name="T11" fmla="*/ 0 h 22"/>
                  <a:gd name="T12" fmla="*/ 0 w 12"/>
                  <a:gd name="T13" fmla="*/ 2 h 22"/>
                  <a:gd name="T14" fmla="*/ 0 w 12"/>
                  <a:gd name="T15" fmla="*/ 20 h 22"/>
                  <a:gd name="T16" fmla="*/ 2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2" y="22"/>
                    </a:moveTo>
                    <a:cubicBezTo>
                      <a:pt x="10" y="22"/>
                      <a:pt x="10" y="22"/>
                      <a:pt x="10" y="22"/>
                    </a:cubicBezTo>
                    <a:cubicBezTo>
                      <a:pt x="11" y="22"/>
                      <a:pt x="12" y="21"/>
                      <a:pt x="12" y="20"/>
                    </a:cubicBezTo>
                    <a:cubicBezTo>
                      <a:pt x="12" y="2"/>
                      <a:pt x="12" y="2"/>
                      <a:pt x="12" y="2"/>
                    </a:cubicBezTo>
                    <a:cubicBezTo>
                      <a:pt x="12" y="1"/>
                      <a:pt x="11" y="0"/>
                      <a:pt x="10" y="0"/>
                    </a:cubicBezTo>
                    <a:cubicBezTo>
                      <a:pt x="2" y="0"/>
                      <a:pt x="2" y="0"/>
                      <a:pt x="2" y="0"/>
                    </a:cubicBezTo>
                    <a:cubicBezTo>
                      <a:pt x="1" y="0"/>
                      <a:pt x="0" y="1"/>
                      <a:pt x="0" y="2"/>
                    </a:cubicBezTo>
                    <a:cubicBezTo>
                      <a:pt x="0" y="20"/>
                      <a:pt x="0" y="20"/>
                      <a:pt x="0" y="20"/>
                    </a:cubicBezTo>
                    <a:cubicBezTo>
                      <a:pt x="0" y="21"/>
                      <a:pt x="1" y="22"/>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19" name="Freeform 204"/>
              <p:cNvSpPr/>
              <p:nvPr/>
            </p:nvSpPr>
            <p:spPr bwMode="auto">
              <a:xfrm>
                <a:off x="6313488" y="3413125"/>
                <a:ext cx="46038" cy="84138"/>
              </a:xfrm>
              <a:custGeom>
                <a:avLst/>
                <a:gdLst>
                  <a:gd name="T0" fmla="*/ 3 w 12"/>
                  <a:gd name="T1" fmla="*/ 22 h 22"/>
                  <a:gd name="T2" fmla="*/ 10 w 12"/>
                  <a:gd name="T3" fmla="*/ 22 h 22"/>
                  <a:gd name="T4" fmla="*/ 12 w 12"/>
                  <a:gd name="T5" fmla="*/ 20 h 22"/>
                  <a:gd name="T6" fmla="*/ 12 w 12"/>
                  <a:gd name="T7" fmla="*/ 2 h 22"/>
                  <a:gd name="T8" fmla="*/ 10 w 12"/>
                  <a:gd name="T9" fmla="*/ 0 h 22"/>
                  <a:gd name="T10" fmla="*/ 3 w 12"/>
                  <a:gd name="T11" fmla="*/ 0 h 22"/>
                  <a:gd name="T12" fmla="*/ 0 w 12"/>
                  <a:gd name="T13" fmla="*/ 2 h 22"/>
                  <a:gd name="T14" fmla="*/ 0 w 12"/>
                  <a:gd name="T15" fmla="*/ 20 h 22"/>
                  <a:gd name="T16" fmla="*/ 3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3" y="22"/>
                    </a:moveTo>
                    <a:cubicBezTo>
                      <a:pt x="10" y="22"/>
                      <a:pt x="10" y="22"/>
                      <a:pt x="10" y="22"/>
                    </a:cubicBezTo>
                    <a:cubicBezTo>
                      <a:pt x="12" y="22"/>
                      <a:pt x="12" y="21"/>
                      <a:pt x="12" y="20"/>
                    </a:cubicBezTo>
                    <a:cubicBezTo>
                      <a:pt x="12" y="2"/>
                      <a:pt x="12" y="2"/>
                      <a:pt x="12" y="2"/>
                    </a:cubicBezTo>
                    <a:cubicBezTo>
                      <a:pt x="12" y="1"/>
                      <a:pt x="12" y="0"/>
                      <a:pt x="10" y="0"/>
                    </a:cubicBezTo>
                    <a:cubicBezTo>
                      <a:pt x="3" y="0"/>
                      <a:pt x="3" y="0"/>
                      <a:pt x="3" y="0"/>
                    </a:cubicBezTo>
                    <a:cubicBezTo>
                      <a:pt x="1" y="0"/>
                      <a:pt x="0" y="1"/>
                      <a:pt x="0" y="2"/>
                    </a:cubicBezTo>
                    <a:cubicBezTo>
                      <a:pt x="0" y="20"/>
                      <a:pt x="0" y="20"/>
                      <a:pt x="0" y="20"/>
                    </a:cubicBezTo>
                    <a:cubicBezTo>
                      <a:pt x="0" y="21"/>
                      <a:pt x="1" y="22"/>
                      <a:pt x="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0" name="Freeform 205"/>
              <p:cNvSpPr>
                <a:spLocks noEditPoints="1"/>
              </p:cNvSpPr>
              <p:nvPr/>
            </p:nvSpPr>
            <p:spPr bwMode="auto">
              <a:xfrm>
                <a:off x="6030913" y="3444875"/>
                <a:ext cx="404813" cy="360363"/>
              </a:xfrm>
              <a:custGeom>
                <a:avLst/>
                <a:gdLst>
                  <a:gd name="T0" fmla="*/ 94 w 106"/>
                  <a:gd name="T1" fmla="*/ 0 h 95"/>
                  <a:gd name="T2" fmla="*/ 91 w 106"/>
                  <a:gd name="T3" fmla="*/ 0 h 95"/>
                  <a:gd name="T4" fmla="*/ 91 w 106"/>
                  <a:gd name="T5" fmla="*/ 12 h 95"/>
                  <a:gd name="T6" fmla="*/ 84 w 106"/>
                  <a:gd name="T7" fmla="*/ 18 h 95"/>
                  <a:gd name="T8" fmla="*/ 77 w 106"/>
                  <a:gd name="T9" fmla="*/ 18 h 95"/>
                  <a:gd name="T10" fmla="*/ 70 w 106"/>
                  <a:gd name="T11" fmla="*/ 12 h 95"/>
                  <a:gd name="T12" fmla="*/ 70 w 106"/>
                  <a:gd name="T13" fmla="*/ 0 h 95"/>
                  <a:gd name="T14" fmla="*/ 36 w 106"/>
                  <a:gd name="T15" fmla="*/ 0 h 95"/>
                  <a:gd name="T16" fmla="*/ 36 w 106"/>
                  <a:gd name="T17" fmla="*/ 12 h 95"/>
                  <a:gd name="T18" fmla="*/ 29 w 106"/>
                  <a:gd name="T19" fmla="*/ 18 h 95"/>
                  <a:gd name="T20" fmla="*/ 21 w 106"/>
                  <a:gd name="T21" fmla="*/ 18 h 95"/>
                  <a:gd name="T22" fmla="*/ 15 w 106"/>
                  <a:gd name="T23" fmla="*/ 12 h 95"/>
                  <a:gd name="T24" fmla="*/ 15 w 106"/>
                  <a:gd name="T25" fmla="*/ 0 h 95"/>
                  <a:gd name="T26" fmla="*/ 12 w 106"/>
                  <a:gd name="T27" fmla="*/ 0 h 95"/>
                  <a:gd name="T28" fmla="*/ 0 w 106"/>
                  <a:gd name="T29" fmla="*/ 13 h 95"/>
                  <a:gd name="T30" fmla="*/ 0 w 106"/>
                  <a:gd name="T31" fmla="*/ 36 h 95"/>
                  <a:gd name="T32" fmla="*/ 0 w 106"/>
                  <a:gd name="T33" fmla="*/ 83 h 95"/>
                  <a:gd name="T34" fmla="*/ 12 w 106"/>
                  <a:gd name="T35" fmla="*/ 95 h 95"/>
                  <a:gd name="T36" fmla="*/ 94 w 106"/>
                  <a:gd name="T37" fmla="*/ 95 h 95"/>
                  <a:gd name="T38" fmla="*/ 106 w 106"/>
                  <a:gd name="T39" fmla="*/ 83 h 95"/>
                  <a:gd name="T40" fmla="*/ 106 w 106"/>
                  <a:gd name="T41" fmla="*/ 36 h 95"/>
                  <a:gd name="T42" fmla="*/ 106 w 106"/>
                  <a:gd name="T43" fmla="*/ 13 h 95"/>
                  <a:gd name="T44" fmla="*/ 94 w 106"/>
                  <a:gd name="T45" fmla="*/ 0 h 95"/>
                  <a:gd name="T46" fmla="*/ 98 w 106"/>
                  <a:gd name="T47" fmla="*/ 83 h 95"/>
                  <a:gd name="T48" fmla="*/ 94 w 106"/>
                  <a:gd name="T49" fmla="*/ 88 h 95"/>
                  <a:gd name="T50" fmla="*/ 12 w 106"/>
                  <a:gd name="T51" fmla="*/ 88 h 95"/>
                  <a:gd name="T52" fmla="*/ 8 w 106"/>
                  <a:gd name="T53" fmla="*/ 83 h 95"/>
                  <a:gd name="T54" fmla="*/ 8 w 106"/>
                  <a:gd name="T55" fmla="*/ 36 h 95"/>
                  <a:gd name="T56" fmla="*/ 98 w 106"/>
                  <a:gd name="T57" fmla="*/ 36 h 95"/>
                  <a:gd name="T58" fmla="*/ 98 w 106"/>
                  <a:gd name="T59" fmla="*/ 8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95">
                    <a:moveTo>
                      <a:pt x="94" y="0"/>
                    </a:moveTo>
                    <a:cubicBezTo>
                      <a:pt x="91" y="0"/>
                      <a:pt x="91" y="0"/>
                      <a:pt x="91" y="0"/>
                    </a:cubicBezTo>
                    <a:cubicBezTo>
                      <a:pt x="91" y="12"/>
                      <a:pt x="91" y="12"/>
                      <a:pt x="91" y="12"/>
                    </a:cubicBezTo>
                    <a:cubicBezTo>
                      <a:pt x="91" y="15"/>
                      <a:pt x="88" y="18"/>
                      <a:pt x="84" y="18"/>
                    </a:cubicBezTo>
                    <a:cubicBezTo>
                      <a:pt x="77" y="18"/>
                      <a:pt x="77" y="18"/>
                      <a:pt x="77" y="18"/>
                    </a:cubicBezTo>
                    <a:cubicBezTo>
                      <a:pt x="73" y="18"/>
                      <a:pt x="70" y="15"/>
                      <a:pt x="70" y="12"/>
                    </a:cubicBezTo>
                    <a:cubicBezTo>
                      <a:pt x="70" y="0"/>
                      <a:pt x="70" y="0"/>
                      <a:pt x="70" y="0"/>
                    </a:cubicBezTo>
                    <a:cubicBezTo>
                      <a:pt x="36" y="0"/>
                      <a:pt x="36" y="0"/>
                      <a:pt x="36" y="0"/>
                    </a:cubicBezTo>
                    <a:cubicBezTo>
                      <a:pt x="36" y="12"/>
                      <a:pt x="36" y="12"/>
                      <a:pt x="36" y="12"/>
                    </a:cubicBezTo>
                    <a:cubicBezTo>
                      <a:pt x="36" y="15"/>
                      <a:pt x="33" y="18"/>
                      <a:pt x="29" y="18"/>
                    </a:cubicBezTo>
                    <a:cubicBezTo>
                      <a:pt x="21" y="18"/>
                      <a:pt x="21" y="18"/>
                      <a:pt x="21" y="18"/>
                    </a:cubicBezTo>
                    <a:cubicBezTo>
                      <a:pt x="18" y="18"/>
                      <a:pt x="15" y="15"/>
                      <a:pt x="15" y="12"/>
                    </a:cubicBezTo>
                    <a:cubicBezTo>
                      <a:pt x="15" y="0"/>
                      <a:pt x="15" y="0"/>
                      <a:pt x="15" y="0"/>
                    </a:cubicBezTo>
                    <a:cubicBezTo>
                      <a:pt x="12" y="0"/>
                      <a:pt x="12" y="0"/>
                      <a:pt x="12" y="0"/>
                    </a:cubicBezTo>
                    <a:cubicBezTo>
                      <a:pt x="5" y="0"/>
                      <a:pt x="0" y="6"/>
                      <a:pt x="0" y="13"/>
                    </a:cubicBezTo>
                    <a:cubicBezTo>
                      <a:pt x="0" y="36"/>
                      <a:pt x="0" y="36"/>
                      <a:pt x="0" y="36"/>
                    </a:cubicBezTo>
                    <a:cubicBezTo>
                      <a:pt x="0" y="83"/>
                      <a:pt x="0" y="83"/>
                      <a:pt x="0" y="83"/>
                    </a:cubicBezTo>
                    <a:cubicBezTo>
                      <a:pt x="0" y="90"/>
                      <a:pt x="5" y="95"/>
                      <a:pt x="12" y="95"/>
                    </a:cubicBezTo>
                    <a:cubicBezTo>
                      <a:pt x="94" y="95"/>
                      <a:pt x="94" y="95"/>
                      <a:pt x="94" y="95"/>
                    </a:cubicBezTo>
                    <a:cubicBezTo>
                      <a:pt x="100" y="95"/>
                      <a:pt x="106" y="90"/>
                      <a:pt x="106" y="83"/>
                    </a:cubicBezTo>
                    <a:cubicBezTo>
                      <a:pt x="106" y="36"/>
                      <a:pt x="106" y="36"/>
                      <a:pt x="106" y="36"/>
                    </a:cubicBezTo>
                    <a:cubicBezTo>
                      <a:pt x="106" y="13"/>
                      <a:pt x="106" y="13"/>
                      <a:pt x="106" y="13"/>
                    </a:cubicBezTo>
                    <a:cubicBezTo>
                      <a:pt x="106" y="6"/>
                      <a:pt x="100" y="0"/>
                      <a:pt x="94" y="0"/>
                    </a:cubicBezTo>
                    <a:close/>
                    <a:moveTo>
                      <a:pt x="98" y="83"/>
                    </a:moveTo>
                    <a:cubicBezTo>
                      <a:pt x="98" y="86"/>
                      <a:pt x="96" y="88"/>
                      <a:pt x="94" y="88"/>
                    </a:cubicBezTo>
                    <a:cubicBezTo>
                      <a:pt x="12" y="88"/>
                      <a:pt x="12" y="88"/>
                      <a:pt x="12" y="88"/>
                    </a:cubicBezTo>
                    <a:cubicBezTo>
                      <a:pt x="10" y="88"/>
                      <a:pt x="8" y="86"/>
                      <a:pt x="8" y="83"/>
                    </a:cubicBezTo>
                    <a:cubicBezTo>
                      <a:pt x="8" y="36"/>
                      <a:pt x="8" y="36"/>
                      <a:pt x="8" y="36"/>
                    </a:cubicBezTo>
                    <a:cubicBezTo>
                      <a:pt x="98" y="36"/>
                      <a:pt x="98" y="36"/>
                      <a:pt x="98" y="36"/>
                    </a:cubicBezTo>
                    <a:lnTo>
                      <a:pt x="98"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white"/>
                  </a:solidFill>
                </a:endParaRPr>
              </a:p>
            </p:txBody>
          </p:sp>
          <p:sp>
            <p:nvSpPr>
              <p:cNvPr id="21" name="Rectangle 206"/>
              <p:cNvSpPr>
                <a:spLocks noChangeArrowheads="1"/>
              </p:cNvSpPr>
              <p:nvPr/>
            </p:nvSpPr>
            <p:spPr bwMode="auto">
              <a:xfrm>
                <a:off x="608488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2" name="Rectangle 207"/>
              <p:cNvSpPr>
                <a:spLocks noChangeArrowheads="1"/>
              </p:cNvSpPr>
              <p:nvPr/>
            </p:nvSpPr>
            <p:spPr bwMode="auto">
              <a:xfrm>
                <a:off x="6191250"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3" name="Rectangle 208"/>
              <p:cNvSpPr>
                <a:spLocks noChangeArrowheads="1"/>
              </p:cNvSpPr>
              <p:nvPr/>
            </p:nvSpPr>
            <p:spPr bwMode="auto">
              <a:xfrm>
                <a:off x="629443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4" name="Rectangle 209"/>
              <p:cNvSpPr>
                <a:spLocks noChangeArrowheads="1"/>
              </p:cNvSpPr>
              <p:nvPr/>
            </p:nvSpPr>
            <p:spPr bwMode="auto">
              <a:xfrm>
                <a:off x="608488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5" name="Rectangle 210"/>
              <p:cNvSpPr>
                <a:spLocks noChangeArrowheads="1"/>
              </p:cNvSpPr>
              <p:nvPr/>
            </p:nvSpPr>
            <p:spPr bwMode="auto">
              <a:xfrm>
                <a:off x="6191250"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6" name="Rectangle 211"/>
              <p:cNvSpPr>
                <a:spLocks noChangeArrowheads="1"/>
              </p:cNvSpPr>
              <p:nvPr/>
            </p:nvSpPr>
            <p:spPr bwMode="auto">
              <a:xfrm>
                <a:off x="629443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7" name="Rectangle 212"/>
              <p:cNvSpPr>
                <a:spLocks noChangeArrowheads="1"/>
              </p:cNvSpPr>
              <p:nvPr/>
            </p:nvSpPr>
            <p:spPr bwMode="auto">
              <a:xfrm>
                <a:off x="608488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8" name="Rectangle 213"/>
              <p:cNvSpPr>
                <a:spLocks noChangeArrowheads="1"/>
              </p:cNvSpPr>
              <p:nvPr/>
            </p:nvSpPr>
            <p:spPr bwMode="auto">
              <a:xfrm>
                <a:off x="6191250"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9" name="Rectangle 214"/>
              <p:cNvSpPr>
                <a:spLocks noChangeArrowheads="1"/>
              </p:cNvSpPr>
              <p:nvPr/>
            </p:nvSpPr>
            <p:spPr bwMode="auto">
              <a:xfrm>
                <a:off x="629443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0" name="Rectangle 215"/>
              <p:cNvSpPr>
                <a:spLocks noChangeArrowheads="1"/>
              </p:cNvSpPr>
              <p:nvPr/>
            </p:nvSpPr>
            <p:spPr bwMode="auto">
              <a:xfrm>
                <a:off x="5965825" y="339883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1" name="Freeform 216"/>
              <p:cNvSpPr>
                <a:spLocks noEditPoints="1"/>
              </p:cNvSpPr>
              <p:nvPr/>
            </p:nvSpPr>
            <p:spPr bwMode="auto">
              <a:xfrm>
                <a:off x="5753100" y="3208338"/>
                <a:ext cx="427038" cy="604838"/>
              </a:xfrm>
              <a:custGeom>
                <a:avLst/>
                <a:gdLst>
                  <a:gd name="T0" fmla="*/ 111 w 112"/>
                  <a:gd name="T1" fmla="*/ 23 h 159"/>
                  <a:gd name="T2" fmla="*/ 106 w 112"/>
                  <a:gd name="T3" fmla="*/ 19 h 159"/>
                  <a:gd name="T4" fmla="*/ 83 w 112"/>
                  <a:gd name="T5" fmla="*/ 2 h 159"/>
                  <a:gd name="T6" fmla="*/ 77 w 112"/>
                  <a:gd name="T7" fmla="*/ 0 h 159"/>
                  <a:gd name="T8" fmla="*/ 70 w 112"/>
                  <a:gd name="T9" fmla="*/ 0 h 159"/>
                  <a:gd name="T10" fmla="*/ 68 w 112"/>
                  <a:gd name="T11" fmla="*/ 10 h 159"/>
                  <a:gd name="T12" fmla="*/ 56 w 112"/>
                  <a:gd name="T13" fmla="*/ 50 h 159"/>
                  <a:gd name="T14" fmla="*/ 56 w 112"/>
                  <a:gd name="T15" fmla="*/ 51 h 159"/>
                  <a:gd name="T16" fmla="*/ 56 w 112"/>
                  <a:gd name="T17" fmla="*/ 50 h 159"/>
                  <a:gd name="T18" fmla="*/ 45 w 112"/>
                  <a:gd name="T19" fmla="*/ 10 h 159"/>
                  <a:gd name="T20" fmla="*/ 43 w 112"/>
                  <a:gd name="T21" fmla="*/ 0 h 159"/>
                  <a:gd name="T22" fmla="*/ 35 w 112"/>
                  <a:gd name="T23" fmla="*/ 0 h 159"/>
                  <a:gd name="T24" fmla="*/ 28 w 112"/>
                  <a:gd name="T25" fmla="*/ 4 h 159"/>
                  <a:gd name="T26" fmla="*/ 0 w 112"/>
                  <a:gd name="T27" fmla="*/ 44 h 159"/>
                  <a:gd name="T28" fmla="*/ 0 w 112"/>
                  <a:gd name="T29" fmla="*/ 44 h 159"/>
                  <a:gd name="T30" fmla="*/ 0 w 112"/>
                  <a:gd name="T31" fmla="*/ 45 h 159"/>
                  <a:gd name="T32" fmla="*/ 2 w 112"/>
                  <a:gd name="T33" fmla="*/ 48 h 159"/>
                  <a:gd name="T34" fmla="*/ 9 w 112"/>
                  <a:gd name="T35" fmla="*/ 61 h 159"/>
                  <a:gd name="T36" fmla="*/ 29 w 112"/>
                  <a:gd name="T37" fmla="*/ 72 h 159"/>
                  <a:gd name="T38" fmla="*/ 29 w 112"/>
                  <a:gd name="T39" fmla="*/ 84 h 159"/>
                  <a:gd name="T40" fmla="*/ 34 w 112"/>
                  <a:gd name="T41" fmla="*/ 159 h 159"/>
                  <a:gd name="T42" fmla="*/ 55 w 112"/>
                  <a:gd name="T43" fmla="*/ 84 h 159"/>
                  <a:gd name="T44" fmla="*/ 60 w 112"/>
                  <a:gd name="T45" fmla="*/ 159 h 159"/>
                  <a:gd name="T46" fmla="*/ 67 w 112"/>
                  <a:gd name="T47" fmla="*/ 145 h 159"/>
                  <a:gd name="T48" fmla="*/ 76 w 112"/>
                  <a:gd name="T49" fmla="*/ 59 h 159"/>
                  <a:gd name="T50" fmla="*/ 110 w 112"/>
                  <a:gd name="T51" fmla="*/ 41 h 159"/>
                  <a:gd name="T52" fmla="*/ 112 w 112"/>
                  <a:gd name="T53" fmla="*/ 24 h 159"/>
                  <a:gd name="T54" fmla="*/ 27 w 112"/>
                  <a:gd name="T55" fmla="*/ 51 h 159"/>
                  <a:gd name="T56" fmla="*/ 21 w 112"/>
                  <a:gd name="T57" fmla="*/ 40 h 159"/>
                  <a:gd name="T58" fmla="*/ 30 w 112"/>
                  <a:gd name="T59" fmla="*/ 55 h 159"/>
                  <a:gd name="T60" fmla="*/ 68 w 112"/>
                  <a:gd name="T61" fmla="*/ 39 h 159"/>
                  <a:gd name="T62" fmla="*/ 82 w 112"/>
                  <a:gd name="T63" fmla="*/ 25 h 159"/>
                  <a:gd name="T64" fmla="*/ 88 w 112"/>
                  <a:gd name="T6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59">
                    <a:moveTo>
                      <a:pt x="112" y="24"/>
                    </a:moveTo>
                    <a:cubicBezTo>
                      <a:pt x="111" y="23"/>
                      <a:pt x="111" y="23"/>
                      <a:pt x="111" y="23"/>
                    </a:cubicBezTo>
                    <a:cubicBezTo>
                      <a:pt x="110" y="22"/>
                      <a:pt x="110" y="22"/>
                      <a:pt x="110" y="22"/>
                    </a:cubicBezTo>
                    <a:cubicBezTo>
                      <a:pt x="106" y="19"/>
                      <a:pt x="106" y="19"/>
                      <a:pt x="106" y="19"/>
                    </a:cubicBezTo>
                    <a:cubicBezTo>
                      <a:pt x="98" y="13"/>
                      <a:pt x="98" y="13"/>
                      <a:pt x="98" y="13"/>
                    </a:cubicBezTo>
                    <a:cubicBezTo>
                      <a:pt x="83" y="2"/>
                      <a:pt x="83" y="2"/>
                      <a:pt x="83" y="2"/>
                    </a:cubicBezTo>
                    <a:cubicBezTo>
                      <a:pt x="81" y="1"/>
                      <a:pt x="80" y="0"/>
                      <a:pt x="78" y="0"/>
                    </a:cubicBezTo>
                    <a:cubicBezTo>
                      <a:pt x="78" y="0"/>
                      <a:pt x="78" y="0"/>
                      <a:pt x="77" y="0"/>
                    </a:cubicBezTo>
                    <a:cubicBezTo>
                      <a:pt x="75" y="0"/>
                      <a:pt x="72" y="0"/>
                      <a:pt x="70" y="0"/>
                    </a:cubicBezTo>
                    <a:cubicBezTo>
                      <a:pt x="70" y="0"/>
                      <a:pt x="70" y="0"/>
                      <a:pt x="70" y="0"/>
                    </a:cubicBezTo>
                    <a:cubicBezTo>
                      <a:pt x="76" y="5"/>
                      <a:pt x="76" y="5"/>
                      <a:pt x="76" y="5"/>
                    </a:cubicBezTo>
                    <a:cubicBezTo>
                      <a:pt x="68" y="10"/>
                      <a:pt x="68" y="10"/>
                      <a:pt x="68" y="10"/>
                    </a:cubicBezTo>
                    <a:cubicBezTo>
                      <a:pt x="72" y="16"/>
                      <a:pt x="72" y="16"/>
                      <a:pt x="72" y="16"/>
                    </a:cubicBezTo>
                    <a:cubicBezTo>
                      <a:pt x="56" y="50"/>
                      <a:pt x="56" y="50"/>
                      <a:pt x="56" y="50"/>
                    </a:cubicBezTo>
                    <a:cubicBezTo>
                      <a:pt x="57" y="51"/>
                      <a:pt x="57" y="51"/>
                      <a:pt x="57" y="51"/>
                    </a:cubicBezTo>
                    <a:cubicBezTo>
                      <a:pt x="56" y="51"/>
                      <a:pt x="56" y="51"/>
                      <a:pt x="56" y="51"/>
                    </a:cubicBezTo>
                    <a:cubicBezTo>
                      <a:pt x="56" y="51"/>
                      <a:pt x="56" y="51"/>
                      <a:pt x="56" y="51"/>
                    </a:cubicBezTo>
                    <a:cubicBezTo>
                      <a:pt x="56" y="50"/>
                      <a:pt x="56" y="50"/>
                      <a:pt x="56" y="50"/>
                    </a:cubicBezTo>
                    <a:cubicBezTo>
                      <a:pt x="41" y="16"/>
                      <a:pt x="41" y="16"/>
                      <a:pt x="41" y="16"/>
                    </a:cubicBezTo>
                    <a:cubicBezTo>
                      <a:pt x="45" y="10"/>
                      <a:pt x="45" y="10"/>
                      <a:pt x="45" y="10"/>
                    </a:cubicBezTo>
                    <a:cubicBezTo>
                      <a:pt x="36" y="5"/>
                      <a:pt x="36" y="5"/>
                      <a:pt x="36" y="5"/>
                    </a:cubicBezTo>
                    <a:cubicBezTo>
                      <a:pt x="43" y="0"/>
                      <a:pt x="43" y="0"/>
                      <a:pt x="43" y="0"/>
                    </a:cubicBezTo>
                    <a:cubicBezTo>
                      <a:pt x="43" y="0"/>
                      <a:pt x="43" y="0"/>
                      <a:pt x="43" y="0"/>
                    </a:cubicBezTo>
                    <a:cubicBezTo>
                      <a:pt x="41" y="0"/>
                      <a:pt x="38" y="0"/>
                      <a:pt x="35" y="0"/>
                    </a:cubicBezTo>
                    <a:cubicBezTo>
                      <a:pt x="35" y="0"/>
                      <a:pt x="35" y="0"/>
                      <a:pt x="35" y="0"/>
                    </a:cubicBezTo>
                    <a:cubicBezTo>
                      <a:pt x="32" y="1"/>
                      <a:pt x="30" y="2"/>
                      <a:pt x="28" y="4"/>
                    </a:cubicBezTo>
                    <a:cubicBezTo>
                      <a:pt x="1" y="32"/>
                      <a:pt x="1" y="32"/>
                      <a:pt x="1" y="32"/>
                    </a:cubicBezTo>
                    <a:cubicBezTo>
                      <a:pt x="0" y="44"/>
                      <a:pt x="0" y="44"/>
                      <a:pt x="0" y="44"/>
                    </a:cubicBezTo>
                    <a:cubicBezTo>
                      <a:pt x="0" y="44"/>
                      <a:pt x="0" y="44"/>
                      <a:pt x="0" y="44"/>
                    </a:cubicBezTo>
                    <a:cubicBezTo>
                      <a:pt x="0" y="44"/>
                      <a:pt x="0" y="44"/>
                      <a:pt x="0" y="44"/>
                    </a:cubicBezTo>
                    <a:cubicBezTo>
                      <a:pt x="0" y="44"/>
                      <a:pt x="0" y="44"/>
                      <a:pt x="0" y="44"/>
                    </a:cubicBezTo>
                    <a:cubicBezTo>
                      <a:pt x="0" y="45"/>
                      <a:pt x="0" y="45"/>
                      <a:pt x="0" y="45"/>
                    </a:cubicBezTo>
                    <a:cubicBezTo>
                      <a:pt x="1" y="46"/>
                      <a:pt x="1" y="46"/>
                      <a:pt x="1" y="46"/>
                    </a:cubicBezTo>
                    <a:cubicBezTo>
                      <a:pt x="2" y="48"/>
                      <a:pt x="2" y="48"/>
                      <a:pt x="2" y="48"/>
                    </a:cubicBezTo>
                    <a:cubicBezTo>
                      <a:pt x="4" y="52"/>
                      <a:pt x="4" y="52"/>
                      <a:pt x="4" y="52"/>
                    </a:cubicBezTo>
                    <a:cubicBezTo>
                      <a:pt x="9" y="61"/>
                      <a:pt x="9" y="61"/>
                      <a:pt x="9" y="61"/>
                    </a:cubicBezTo>
                    <a:cubicBezTo>
                      <a:pt x="18" y="78"/>
                      <a:pt x="18" y="78"/>
                      <a:pt x="18" y="78"/>
                    </a:cubicBezTo>
                    <a:cubicBezTo>
                      <a:pt x="22" y="76"/>
                      <a:pt x="26" y="74"/>
                      <a:pt x="29" y="72"/>
                    </a:cubicBezTo>
                    <a:cubicBezTo>
                      <a:pt x="29" y="76"/>
                      <a:pt x="29" y="80"/>
                      <a:pt x="29" y="83"/>
                    </a:cubicBezTo>
                    <a:cubicBezTo>
                      <a:pt x="29" y="83"/>
                      <a:pt x="29" y="84"/>
                      <a:pt x="29" y="84"/>
                    </a:cubicBezTo>
                    <a:cubicBezTo>
                      <a:pt x="30" y="84"/>
                      <a:pt x="31" y="84"/>
                      <a:pt x="31" y="84"/>
                    </a:cubicBezTo>
                    <a:cubicBezTo>
                      <a:pt x="34" y="159"/>
                      <a:pt x="34" y="159"/>
                      <a:pt x="34" y="159"/>
                    </a:cubicBezTo>
                    <a:cubicBezTo>
                      <a:pt x="55" y="159"/>
                      <a:pt x="55" y="159"/>
                      <a:pt x="55" y="159"/>
                    </a:cubicBezTo>
                    <a:cubicBezTo>
                      <a:pt x="56" y="137"/>
                      <a:pt x="56" y="99"/>
                      <a:pt x="55" y="84"/>
                    </a:cubicBezTo>
                    <a:cubicBezTo>
                      <a:pt x="56" y="84"/>
                      <a:pt x="57" y="84"/>
                      <a:pt x="58" y="84"/>
                    </a:cubicBezTo>
                    <a:cubicBezTo>
                      <a:pt x="60" y="159"/>
                      <a:pt x="60" y="159"/>
                      <a:pt x="60" y="159"/>
                    </a:cubicBezTo>
                    <a:cubicBezTo>
                      <a:pt x="74" y="159"/>
                      <a:pt x="74" y="159"/>
                      <a:pt x="74" y="159"/>
                    </a:cubicBezTo>
                    <a:cubicBezTo>
                      <a:pt x="70" y="156"/>
                      <a:pt x="67" y="151"/>
                      <a:pt x="67" y="145"/>
                    </a:cubicBezTo>
                    <a:cubicBezTo>
                      <a:pt x="67" y="75"/>
                      <a:pt x="67" y="75"/>
                      <a:pt x="67" y="75"/>
                    </a:cubicBezTo>
                    <a:cubicBezTo>
                      <a:pt x="67" y="68"/>
                      <a:pt x="71" y="62"/>
                      <a:pt x="76" y="59"/>
                    </a:cubicBezTo>
                    <a:cubicBezTo>
                      <a:pt x="77" y="60"/>
                      <a:pt x="78" y="61"/>
                      <a:pt x="78" y="62"/>
                    </a:cubicBezTo>
                    <a:cubicBezTo>
                      <a:pt x="110" y="41"/>
                      <a:pt x="110" y="41"/>
                      <a:pt x="110" y="41"/>
                    </a:cubicBezTo>
                    <a:cubicBezTo>
                      <a:pt x="111" y="40"/>
                      <a:pt x="111" y="40"/>
                      <a:pt x="111" y="40"/>
                    </a:cubicBezTo>
                    <a:lnTo>
                      <a:pt x="112" y="24"/>
                    </a:lnTo>
                    <a:close/>
                    <a:moveTo>
                      <a:pt x="30" y="55"/>
                    </a:moveTo>
                    <a:cubicBezTo>
                      <a:pt x="27" y="51"/>
                      <a:pt x="27" y="51"/>
                      <a:pt x="27" y="51"/>
                    </a:cubicBezTo>
                    <a:cubicBezTo>
                      <a:pt x="22" y="43"/>
                      <a:pt x="22" y="43"/>
                      <a:pt x="22" y="43"/>
                    </a:cubicBezTo>
                    <a:cubicBezTo>
                      <a:pt x="21" y="40"/>
                      <a:pt x="21" y="40"/>
                      <a:pt x="21" y="40"/>
                    </a:cubicBezTo>
                    <a:cubicBezTo>
                      <a:pt x="31" y="28"/>
                      <a:pt x="31" y="28"/>
                      <a:pt x="31" y="28"/>
                    </a:cubicBezTo>
                    <a:cubicBezTo>
                      <a:pt x="30" y="37"/>
                      <a:pt x="30" y="46"/>
                      <a:pt x="30" y="55"/>
                    </a:cubicBezTo>
                    <a:close/>
                    <a:moveTo>
                      <a:pt x="70" y="41"/>
                    </a:moveTo>
                    <a:cubicBezTo>
                      <a:pt x="68" y="39"/>
                      <a:pt x="68" y="39"/>
                      <a:pt x="68" y="39"/>
                    </a:cubicBezTo>
                    <a:cubicBezTo>
                      <a:pt x="82" y="30"/>
                      <a:pt x="82" y="30"/>
                      <a:pt x="82" y="30"/>
                    </a:cubicBezTo>
                    <a:cubicBezTo>
                      <a:pt x="82" y="28"/>
                      <a:pt x="82" y="27"/>
                      <a:pt x="82" y="25"/>
                    </a:cubicBezTo>
                    <a:cubicBezTo>
                      <a:pt x="86" y="28"/>
                      <a:pt x="86" y="28"/>
                      <a:pt x="86" y="28"/>
                    </a:cubicBezTo>
                    <a:cubicBezTo>
                      <a:pt x="88" y="30"/>
                      <a:pt x="88" y="30"/>
                      <a:pt x="88" y="30"/>
                    </a:cubicBezTo>
                    <a:lnTo>
                      <a:pt x="70"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2" name="Freeform 217"/>
              <p:cNvSpPr/>
              <p:nvPr/>
            </p:nvSpPr>
            <p:spPr bwMode="auto">
              <a:xfrm>
                <a:off x="5946775" y="3201988"/>
                <a:ext cx="42863" cy="44450"/>
              </a:xfrm>
              <a:custGeom>
                <a:avLst/>
                <a:gdLst>
                  <a:gd name="T0" fmla="*/ 22 w 27"/>
                  <a:gd name="T1" fmla="*/ 0 h 28"/>
                  <a:gd name="T2" fmla="*/ 27 w 27"/>
                  <a:gd name="T3" fmla="*/ 16 h 28"/>
                  <a:gd name="T4" fmla="*/ 12 w 27"/>
                  <a:gd name="T5" fmla="*/ 28 h 28"/>
                  <a:gd name="T6" fmla="*/ 0 w 27"/>
                  <a:gd name="T7" fmla="*/ 16 h 28"/>
                  <a:gd name="T8" fmla="*/ 5 w 27"/>
                  <a:gd name="T9" fmla="*/ 0 h 28"/>
                  <a:gd name="T10" fmla="*/ 22 w 27"/>
                  <a:gd name="T11" fmla="*/ 0 h 28"/>
                </a:gdLst>
                <a:ahLst/>
                <a:cxnLst>
                  <a:cxn ang="0">
                    <a:pos x="T0" y="T1"/>
                  </a:cxn>
                  <a:cxn ang="0">
                    <a:pos x="T2" y="T3"/>
                  </a:cxn>
                  <a:cxn ang="0">
                    <a:pos x="T4" y="T5"/>
                  </a:cxn>
                  <a:cxn ang="0">
                    <a:pos x="T6" y="T7"/>
                  </a:cxn>
                  <a:cxn ang="0">
                    <a:pos x="T8" y="T9"/>
                  </a:cxn>
                  <a:cxn ang="0">
                    <a:pos x="T10" y="T11"/>
                  </a:cxn>
                </a:cxnLst>
                <a:rect l="0" t="0" r="r" b="b"/>
                <a:pathLst>
                  <a:path w="27" h="28">
                    <a:moveTo>
                      <a:pt x="22" y="0"/>
                    </a:moveTo>
                    <a:lnTo>
                      <a:pt x="27" y="16"/>
                    </a:lnTo>
                    <a:lnTo>
                      <a:pt x="12" y="28"/>
                    </a:lnTo>
                    <a:lnTo>
                      <a:pt x="0" y="16"/>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3" name="Freeform 218"/>
              <p:cNvSpPr/>
              <p:nvPr/>
            </p:nvSpPr>
            <p:spPr bwMode="auto">
              <a:xfrm>
                <a:off x="5946775" y="3232150"/>
                <a:ext cx="42863" cy="185738"/>
              </a:xfrm>
              <a:custGeom>
                <a:avLst/>
                <a:gdLst>
                  <a:gd name="T0" fmla="*/ 22 w 27"/>
                  <a:gd name="T1" fmla="*/ 0 h 117"/>
                  <a:gd name="T2" fmla="*/ 27 w 27"/>
                  <a:gd name="T3" fmla="*/ 105 h 117"/>
                  <a:gd name="T4" fmla="*/ 12 w 27"/>
                  <a:gd name="T5" fmla="*/ 117 h 117"/>
                  <a:gd name="T6" fmla="*/ 0 w 27"/>
                  <a:gd name="T7" fmla="*/ 105 h 117"/>
                  <a:gd name="T8" fmla="*/ 5 w 27"/>
                  <a:gd name="T9" fmla="*/ 0 h 117"/>
                  <a:gd name="T10" fmla="*/ 22 w 27"/>
                  <a:gd name="T11" fmla="*/ 0 h 117"/>
                </a:gdLst>
                <a:ahLst/>
                <a:cxnLst>
                  <a:cxn ang="0">
                    <a:pos x="T0" y="T1"/>
                  </a:cxn>
                  <a:cxn ang="0">
                    <a:pos x="T2" y="T3"/>
                  </a:cxn>
                  <a:cxn ang="0">
                    <a:pos x="T4" y="T5"/>
                  </a:cxn>
                  <a:cxn ang="0">
                    <a:pos x="T6" y="T7"/>
                  </a:cxn>
                  <a:cxn ang="0">
                    <a:pos x="T8" y="T9"/>
                  </a:cxn>
                  <a:cxn ang="0">
                    <a:pos x="T10" y="T11"/>
                  </a:cxn>
                </a:cxnLst>
                <a:rect l="0" t="0" r="r" b="b"/>
                <a:pathLst>
                  <a:path w="27" h="117">
                    <a:moveTo>
                      <a:pt x="22" y="0"/>
                    </a:moveTo>
                    <a:lnTo>
                      <a:pt x="27" y="105"/>
                    </a:lnTo>
                    <a:lnTo>
                      <a:pt x="12" y="117"/>
                    </a:lnTo>
                    <a:lnTo>
                      <a:pt x="0" y="105"/>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grpSp>
        <p:nvGrpSpPr>
          <p:cNvPr id="34" name="组合 33"/>
          <p:cNvGrpSpPr/>
          <p:nvPr/>
        </p:nvGrpSpPr>
        <p:grpSpPr>
          <a:xfrm>
            <a:off x="6830019" y="3870689"/>
            <a:ext cx="342764" cy="342764"/>
            <a:chOff x="4688155" y="5875923"/>
            <a:chExt cx="342764" cy="342764"/>
          </a:xfrm>
        </p:grpSpPr>
        <p:sp>
          <p:nvSpPr>
            <p:cNvPr id="35" name="椭圆 34"/>
            <p:cNvSpPr/>
            <p:nvPr/>
          </p:nvSpPr>
          <p:spPr>
            <a:xfrm>
              <a:off x="4688155" y="5875923"/>
              <a:ext cx="342764" cy="342764"/>
            </a:xfrm>
            <a:prstGeom prst="ellipse">
              <a:avLst/>
            </a:prstGeom>
            <a:solidFill>
              <a:srgbClr val="01206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grpSp>
          <p:nvGrpSpPr>
            <p:cNvPr id="36" name="组合 35"/>
            <p:cNvGrpSpPr/>
            <p:nvPr/>
          </p:nvGrpSpPr>
          <p:grpSpPr>
            <a:xfrm>
              <a:off x="4763028" y="5947390"/>
              <a:ext cx="193018" cy="199830"/>
              <a:chOff x="5753100" y="3041650"/>
              <a:chExt cx="682626" cy="771526"/>
            </a:xfrm>
            <a:solidFill>
              <a:schemeClr val="accent1"/>
            </a:solidFill>
          </p:grpSpPr>
          <p:sp>
            <p:nvSpPr>
              <p:cNvPr id="37" name="Oval 202"/>
              <p:cNvSpPr>
                <a:spLocks noChangeArrowheads="1"/>
              </p:cNvSpPr>
              <p:nvPr/>
            </p:nvSpPr>
            <p:spPr bwMode="auto">
              <a:xfrm>
                <a:off x="5908675" y="3041650"/>
                <a:ext cx="119063" cy="1476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8" name="Freeform 203"/>
              <p:cNvSpPr/>
              <p:nvPr/>
            </p:nvSpPr>
            <p:spPr bwMode="auto">
              <a:xfrm>
                <a:off x="6103938" y="3413125"/>
                <a:ext cx="46038" cy="84138"/>
              </a:xfrm>
              <a:custGeom>
                <a:avLst/>
                <a:gdLst>
                  <a:gd name="T0" fmla="*/ 2 w 12"/>
                  <a:gd name="T1" fmla="*/ 22 h 22"/>
                  <a:gd name="T2" fmla="*/ 10 w 12"/>
                  <a:gd name="T3" fmla="*/ 22 h 22"/>
                  <a:gd name="T4" fmla="*/ 12 w 12"/>
                  <a:gd name="T5" fmla="*/ 20 h 22"/>
                  <a:gd name="T6" fmla="*/ 12 w 12"/>
                  <a:gd name="T7" fmla="*/ 2 h 22"/>
                  <a:gd name="T8" fmla="*/ 10 w 12"/>
                  <a:gd name="T9" fmla="*/ 0 h 22"/>
                  <a:gd name="T10" fmla="*/ 2 w 12"/>
                  <a:gd name="T11" fmla="*/ 0 h 22"/>
                  <a:gd name="T12" fmla="*/ 0 w 12"/>
                  <a:gd name="T13" fmla="*/ 2 h 22"/>
                  <a:gd name="T14" fmla="*/ 0 w 12"/>
                  <a:gd name="T15" fmla="*/ 20 h 22"/>
                  <a:gd name="T16" fmla="*/ 2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2" y="22"/>
                    </a:moveTo>
                    <a:cubicBezTo>
                      <a:pt x="10" y="22"/>
                      <a:pt x="10" y="22"/>
                      <a:pt x="10" y="22"/>
                    </a:cubicBezTo>
                    <a:cubicBezTo>
                      <a:pt x="11" y="22"/>
                      <a:pt x="12" y="21"/>
                      <a:pt x="12" y="20"/>
                    </a:cubicBezTo>
                    <a:cubicBezTo>
                      <a:pt x="12" y="2"/>
                      <a:pt x="12" y="2"/>
                      <a:pt x="12" y="2"/>
                    </a:cubicBezTo>
                    <a:cubicBezTo>
                      <a:pt x="12" y="1"/>
                      <a:pt x="11" y="0"/>
                      <a:pt x="10" y="0"/>
                    </a:cubicBezTo>
                    <a:cubicBezTo>
                      <a:pt x="2" y="0"/>
                      <a:pt x="2" y="0"/>
                      <a:pt x="2" y="0"/>
                    </a:cubicBezTo>
                    <a:cubicBezTo>
                      <a:pt x="1" y="0"/>
                      <a:pt x="0" y="1"/>
                      <a:pt x="0" y="2"/>
                    </a:cubicBezTo>
                    <a:cubicBezTo>
                      <a:pt x="0" y="20"/>
                      <a:pt x="0" y="20"/>
                      <a:pt x="0" y="20"/>
                    </a:cubicBezTo>
                    <a:cubicBezTo>
                      <a:pt x="0" y="21"/>
                      <a:pt x="1" y="22"/>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9" name="Freeform 204"/>
              <p:cNvSpPr/>
              <p:nvPr/>
            </p:nvSpPr>
            <p:spPr bwMode="auto">
              <a:xfrm>
                <a:off x="6313488" y="3413125"/>
                <a:ext cx="46038" cy="84138"/>
              </a:xfrm>
              <a:custGeom>
                <a:avLst/>
                <a:gdLst>
                  <a:gd name="T0" fmla="*/ 3 w 12"/>
                  <a:gd name="T1" fmla="*/ 22 h 22"/>
                  <a:gd name="T2" fmla="*/ 10 w 12"/>
                  <a:gd name="T3" fmla="*/ 22 h 22"/>
                  <a:gd name="T4" fmla="*/ 12 w 12"/>
                  <a:gd name="T5" fmla="*/ 20 h 22"/>
                  <a:gd name="T6" fmla="*/ 12 w 12"/>
                  <a:gd name="T7" fmla="*/ 2 h 22"/>
                  <a:gd name="T8" fmla="*/ 10 w 12"/>
                  <a:gd name="T9" fmla="*/ 0 h 22"/>
                  <a:gd name="T10" fmla="*/ 3 w 12"/>
                  <a:gd name="T11" fmla="*/ 0 h 22"/>
                  <a:gd name="T12" fmla="*/ 0 w 12"/>
                  <a:gd name="T13" fmla="*/ 2 h 22"/>
                  <a:gd name="T14" fmla="*/ 0 w 12"/>
                  <a:gd name="T15" fmla="*/ 20 h 22"/>
                  <a:gd name="T16" fmla="*/ 3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3" y="22"/>
                    </a:moveTo>
                    <a:cubicBezTo>
                      <a:pt x="10" y="22"/>
                      <a:pt x="10" y="22"/>
                      <a:pt x="10" y="22"/>
                    </a:cubicBezTo>
                    <a:cubicBezTo>
                      <a:pt x="12" y="22"/>
                      <a:pt x="12" y="21"/>
                      <a:pt x="12" y="20"/>
                    </a:cubicBezTo>
                    <a:cubicBezTo>
                      <a:pt x="12" y="2"/>
                      <a:pt x="12" y="2"/>
                      <a:pt x="12" y="2"/>
                    </a:cubicBezTo>
                    <a:cubicBezTo>
                      <a:pt x="12" y="1"/>
                      <a:pt x="12" y="0"/>
                      <a:pt x="10" y="0"/>
                    </a:cubicBezTo>
                    <a:cubicBezTo>
                      <a:pt x="3" y="0"/>
                      <a:pt x="3" y="0"/>
                      <a:pt x="3" y="0"/>
                    </a:cubicBezTo>
                    <a:cubicBezTo>
                      <a:pt x="1" y="0"/>
                      <a:pt x="0" y="1"/>
                      <a:pt x="0" y="2"/>
                    </a:cubicBezTo>
                    <a:cubicBezTo>
                      <a:pt x="0" y="20"/>
                      <a:pt x="0" y="20"/>
                      <a:pt x="0" y="20"/>
                    </a:cubicBezTo>
                    <a:cubicBezTo>
                      <a:pt x="0" y="21"/>
                      <a:pt x="1" y="22"/>
                      <a:pt x="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0" name="Freeform 205"/>
              <p:cNvSpPr>
                <a:spLocks noEditPoints="1"/>
              </p:cNvSpPr>
              <p:nvPr/>
            </p:nvSpPr>
            <p:spPr bwMode="auto">
              <a:xfrm>
                <a:off x="6030913" y="3444875"/>
                <a:ext cx="404813" cy="360363"/>
              </a:xfrm>
              <a:custGeom>
                <a:avLst/>
                <a:gdLst>
                  <a:gd name="T0" fmla="*/ 94 w 106"/>
                  <a:gd name="T1" fmla="*/ 0 h 95"/>
                  <a:gd name="T2" fmla="*/ 91 w 106"/>
                  <a:gd name="T3" fmla="*/ 0 h 95"/>
                  <a:gd name="T4" fmla="*/ 91 w 106"/>
                  <a:gd name="T5" fmla="*/ 12 h 95"/>
                  <a:gd name="T6" fmla="*/ 84 w 106"/>
                  <a:gd name="T7" fmla="*/ 18 h 95"/>
                  <a:gd name="T8" fmla="*/ 77 w 106"/>
                  <a:gd name="T9" fmla="*/ 18 h 95"/>
                  <a:gd name="T10" fmla="*/ 70 w 106"/>
                  <a:gd name="T11" fmla="*/ 12 h 95"/>
                  <a:gd name="T12" fmla="*/ 70 w 106"/>
                  <a:gd name="T13" fmla="*/ 0 h 95"/>
                  <a:gd name="T14" fmla="*/ 36 w 106"/>
                  <a:gd name="T15" fmla="*/ 0 h 95"/>
                  <a:gd name="T16" fmla="*/ 36 w 106"/>
                  <a:gd name="T17" fmla="*/ 12 h 95"/>
                  <a:gd name="T18" fmla="*/ 29 w 106"/>
                  <a:gd name="T19" fmla="*/ 18 h 95"/>
                  <a:gd name="T20" fmla="*/ 21 w 106"/>
                  <a:gd name="T21" fmla="*/ 18 h 95"/>
                  <a:gd name="T22" fmla="*/ 15 w 106"/>
                  <a:gd name="T23" fmla="*/ 12 h 95"/>
                  <a:gd name="T24" fmla="*/ 15 w 106"/>
                  <a:gd name="T25" fmla="*/ 0 h 95"/>
                  <a:gd name="T26" fmla="*/ 12 w 106"/>
                  <a:gd name="T27" fmla="*/ 0 h 95"/>
                  <a:gd name="T28" fmla="*/ 0 w 106"/>
                  <a:gd name="T29" fmla="*/ 13 h 95"/>
                  <a:gd name="T30" fmla="*/ 0 w 106"/>
                  <a:gd name="T31" fmla="*/ 36 h 95"/>
                  <a:gd name="T32" fmla="*/ 0 w 106"/>
                  <a:gd name="T33" fmla="*/ 83 h 95"/>
                  <a:gd name="T34" fmla="*/ 12 w 106"/>
                  <a:gd name="T35" fmla="*/ 95 h 95"/>
                  <a:gd name="T36" fmla="*/ 94 w 106"/>
                  <a:gd name="T37" fmla="*/ 95 h 95"/>
                  <a:gd name="T38" fmla="*/ 106 w 106"/>
                  <a:gd name="T39" fmla="*/ 83 h 95"/>
                  <a:gd name="T40" fmla="*/ 106 w 106"/>
                  <a:gd name="T41" fmla="*/ 36 h 95"/>
                  <a:gd name="T42" fmla="*/ 106 w 106"/>
                  <a:gd name="T43" fmla="*/ 13 h 95"/>
                  <a:gd name="T44" fmla="*/ 94 w 106"/>
                  <a:gd name="T45" fmla="*/ 0 h 95"/>
                  <a:gd name="T46" fmla="*/ 98 w 106"/>
                  <a:gd name="T47" fmla="*/ 83 h 95"/>
                  <a:gd name="T48" fmla="*/ 94 w 106"/>
                  <a:gd name="T49" fmla="*/ 88 h 95"/>
                  <a:gd name="T50" fmla="*/ 12 w 106"/>
                  <a:gd name="T51" fmla="*/ 88 h 95"/>
                  <a:gd name="T52" fmla="*/ 8 w 106"/>
                  <a:gd name="T53" fmla="*/ 83 h 95"/>
                  <a:gd name="T54" fmla="*/ 8 w 106"/>
                  <a:gd name="T55" fmla="*/ 36 h 95"/>
                  <a:gd name="T56" fmla="*/ 98 w 106"/>
                  <a:gd name="T57" fmla="*/ 36 h 95"/>
                  <a:gd name="T58" fmla="*/ 98 w 106"/>
                  <a:gd name="T59" fmla="*/ 8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95">
                    <a:moveTo>
                      <a:pt x="94" y="0"/>
                    </a:moveTo>
                    <a:cubicBezTo>
                      <a:pt x="91" y="0"/>
                      <a:pt x="91" y="0"/>
                      <a:pt x="91" y="0"/>
                    </a:cubicBezTo>
                    <a:cubicBezTo>
                      <a:pt x="91" y="12"/>
                      <a:pt x="91" y="12"/>
                      <a:pt x="91" y="12"/>
                    </a:cubicBezTo>
                    <a:cubicBezTo>
                      <a:pt x="91" y="15"/>
                      <a:pt x="88" y="18"/>
                      <a:pt x="84" y="18"/>
                    </a:cubicBezTo>
                    <a:cubicBezTo>
                      <a:pt x="77" y="18"/>
                      <a:pt x="77" y="18"/>
                      <a:pt x="77" y="18"/>
                    </a:cubicBezTo>
                    <a:cubicBezTo>
                      <a:pt x="73" y="18"/>
                      <a:pt x="70" y="15"/>
                      <a:pt x="70" y="12"/>
                    </a:cubicBezTo>
                    <a:cubicBezTo>
                      <a:pt x="70" y="0"/>
                      <a:pt x="70" y="0"/>
                      <a:pt x="70" y="0"/>
                    </a:cubicBezTo>
                    <a:cubicBezTo>
                      <a:pt x="36" y="0"/>
                      <a:pt x="36" y="0"/>
                      <a:pt x="36" y="0"/>
                    </a:cubicBezTo>
                    <a:cubicBezTo>
                      <a:pt x="36" y="12"/>
                      <a:pt x="36" y="12"/>
                      <a:pt x="36" y="12"/>
                    </a:cubicBezTo>
                    <a:cubicBezTo>
                      <a:pt x="36" y="15"/>
                      <a:pt x="33" y="18"/>
                      <a:pt x="29" y="18"/>
                    </a:cubicBezTo>
                    <a:cubicBezTo>
                      <a:pt x="21" y="18"/>
                      <a:pt x="21" y="18"/>
                      <a:pt x="21" y="18"/>
                    </a:cubicBezTo>
                    <a:cubicBezTo>
                      <a:pt x="18" y="18"/>
                      <a:pt x="15" y="15"/>
                      <a:pt x="15" y="12"/>
                    </a:cubicBezTo>
                    <a:cubicBezTo>
                      <a:pt x="15" y="0"/>
                      <a:pt x="15" y="0"/>
                      <a:pt x="15" y="0"/>
                    </a:cubicBezTo>
                    <a:cubicBezTo>
                      <a:pt x="12" y="0"/>
                      <a:pt x="12" y="0"/>
                      <a:pt x="12" y="0"/>
                    </a:cubicBezTo>
                    <a:cubicBezTo>
                      <a:pt x="5" y="0"/>
                      <a:pt x="0" y="6"/>
                      <a:pt x="0" y="13"/>
                    </a:cubicBezTo>
                    <a:cubicBezTo>
                      <a:pt x="0" y="36"/>
                      <a:pt x="0" y="36"/>
                      <a:pt x="0" y="36"/>
                    </a:cubicBezTo>
                    <a:cubicBezTo>
                      <a:pt x="0" y="83"/>
                      <a:pt x="0" y="83"/>
                      <a:pt x="0" y="83"/>
                    </a:cubicBezTo>
                    <a:cubicBezTo>
                      <a:pt x="0" y="90"/>
                      <a:pt x="5" y="95"/>
                      <a:pt x="12" y="95"/>
                    </a:cubicBezTo>
                    <a:cubicBezTo>
                      <a:pt x="94" y="95"/>
                      <a:pt x="94" y="95"/>
                      <a:pt x="94" y="95"/>
                    </a:cubicBezTo>
                    <a:cubicBezTo>
                      <a:pt x="100" y="95"/>
                      <a:pt x="106" y="90"/>
                      <a:pt x="106" y="83"/>
                    </a:cubicBezTo>
                    <a:cubicBezTo>
                      <a:pt x="106" y="36"/>
                      <a:pt x="106" y="36"/>
                      <a:pt x="106" y="36"/>
                    </a:cubicBezTo>
                    <a:cubicBezTo>
                      <a:pt x="106" y="13"/>
                      <a:pt x="106" y="13"/>
                      <a:pt x="106" y="13"/>
                    </a:cubicBezTo>
                    <a:cubicBezTo>
                      <a:pt x="106" y="6"/>
                      <a:pt x="100" y="0"/>
                      <a:pt x="94" y="0"/>
                    </a:cubicBezTo>
                    <a:close/>
                    <a:moveTo>
                      <a:pt x="98" y="83"/>
                    </a:moveTo>
                    <a:cubicBezTo>
                      <a:pt x="98" y="86"/>
                      <a:pt x="96" y="88"/>
                      <a:pt x="94" y="88"/>
                    </a:cubicBezTo>
                    <a:cubicBezTo>
                      <a:pt x="12" y="88"/>
                      <a:pt x="12" y="88"/>
                      <a:pt x="12" y="88"/>
                    </a:cubicBezTo>
                    <a:cubicBezTo>
                      <a:pt x="10" y="88"/>
                      <a:pt x="8" y="86"/>
                      <a:pt x="8" y="83"/>
                    </a:cubicBezTo>
                    <a:cubicBezTo>
                      <a:pt x="8" y="36"/>
                      <a:pt x="8" y="36"/>
                      <a:pt x="8" y="36"/>
                    </a:cubicBezTo>
                    <a:cubicBezTo>
                      <a:pt x="98" y="36"/>
                      <a:pt x="98" y="36"/>
                      <a:pt x="98" y="36"/>
                    </a:cubicBezTo>
                    <a:lnTo>
                      <a:pt x="98"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1" name="Rectangle 206"/>
              <p:cNvSpPr>
                <a:spLocks noChangeArrowheads="1"/>
              </p:cNvSpPr>
              <p:nvPr/>
            </p:nvSpPr>
            <p:spPr bwMode="auto">
              <a:xfrm>
                <a:off x="608488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2" name="Rectangle 207"/>
              <p:cNvSpPr>
                <a:spLocks noChangeArrowheads="1"/>
              </p:cNvSpPr>
              <p:nvPr/>
            </p:nvSpPr>
            <p:spPr bwMode="auto">
              <a:xfrm>
                <a:off x="6191250"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3" name="Rectangle 208"/>
              <p:cNvSpPr>
                <a:spLocks noChangeArrowheads="1"/>
              </p:cNvSpPr>
              <p:nvPr/>
            </p:nvSpPr>
            <p:spPr bwMode="auto">
              <a:xfrm>
                <a:off x="629443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4" name="Rectangle 209"/>
              <p:cNvSpPr>
                <a:spLocks noChangeArrowheads="1"/>
              </p:cNvSpPr>
              <p:nvPr/>
            </p:nvSpPr>
            <p:spPr bwMode="auto">
              <a:xfrm>
                <a:off x="608488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5" name="Rectangle 210"/>
              <p:cNvSpPr>
                <a:spLocks noChangeArrowheads="1"/>
              </p:cNvSpPr>
              <p:nvPr/>
            </p:nvSpPr>
            <p:spPr bwMode="auto">
              <a:xfrm>
                <a:off x="6191250"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6" name="Rectangle 211"/>
              <p:cNvSpPr>
                <a:spLocks noChangeArrowheads="1"/>
              </p:cNvSpPr>
              <p:nvPr/>
            </p:nvSpPr>
            <p:spPr bwMode="auto">
              <a:xfrm>
                <a:off x="629443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7" name="Rectangle 212"/>
              <p:cNvSpPr>
                <a:spLocks noChangeArrowheads="1"/>
              </p:cNvSpPr>
              <p:nvPr/>
            </p:nvSpPr>
            <p:spPr bwMode="auto">
              <a:xfrm>
                <a:off x="608488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8" name="Rectangle 213"/>
              <p:cNvSpPr>
                <a:spLocks noChangeArrowheads="1"/>
              </p:cNvSpPr>
              <p:nvPr/>
            </p:nvSpPr>
            <p:spPr bwMode="auto">
              <a:xfrm>
                <a:off x="6191250"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49" name="Rectangle 214"/>
              <p:cNvSpPr>
                <a:spLocks noChangeArrowheads="1"/>
              </p:cNvSpPr>
              <p:nvPr/>
            </p:nvSpPr>
            <p:spPr bwMode="auto">
              <a:xfrm>
                <a:off x="629443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50" name="Rectangle 215"/>
              <p:cNvSpPr>
                <a:spLocks noChangeArrowheads="1"/>
              </p:cNvSpPr>
              <p:nvPr/>
            </p:nvSpPr>
            <p:spPr bwMode="auto">
              <a:xfrm>
                <a:off x="5965825" y="339883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51" name="Freeform 216"/>
              <p:cNvSpPr>
                <a:spLocks noEditPoints="1"/>
              </p:cNvSpPr>
              <p:nvPr/>
            </p:nvSpPr>
            <p:spPr bwMode="auto">
              <a:xfrm>
                <a:off x="5753100" y="3208338"/>
                <a:ext cx="427038" cy="604838"/>
              </a:xfrm>
              <a:custGeom>
                <a:avLst/>
                <a:gdLst>
                  <a:gd name="T0" fmla="*/ 111 w 112"/>
                  <a:gd name="T1" fmla="*/ 23 h 159"/>
                  <a:gd name="T2" fmla="*/ 106 w 112"/>
                  <a:gd name="T3" fmla="*/ 19 h 159"/>
                  <a:gd name="T4" fmla="*/ 83 w 112"/>
                  <a:gd name="T5" fmla="*/ 2 h 159"/>
                  <a:gd name="T6" fmla="*/ 77 w 112"/>
                  <a:gd name="T7" fmla="*/ 0 h 159"/>
                  <a:gd name="T8" fmla="*/ 70 w 112"/>
                  <a:gd name="T9" fmla="*/ 0 h 159"/>
                  <a:gd name="T10" fmla="*/ 68 w 112"/>
                  <a:gd name="T11" fmla="*/ 10 h 159"/>
                  <a:gd name="T12" fmla="*/ 56 w 112"/>
                  <a:gd name="T13" fmla="*/ 50 h 159"/>
                  <a:gd name="T14" fmla="*/ 56 w 112"/>
                  <a:gd name="T15" fmla="*/ 51 h 159"/>
                  <a:gd name="T16" fmla="*/ 56 w 112"/>
                  <a:gd name="T17" fmla="*/ 50 h 159"/>
                  <a:gd name="T18" fmla="*/ 45 w 112"/>
                  <a:gd name="T19" fmla="*/ 10 h 159"/>
                  <a:gd name="T20" fmla="*/ 43 w 112"/>
                  <a:gd name="T21" fmla="*/ 0 h 159"/>
                  <a:gd name="T22" fmla="*/ 35 w 112"/>
                  <a:gd name="T23" fmla="*/ 0 h 159"/>
                  <a:gd name="T24" fmla="*/ 28 w 112"/>
                  <a:gd name="T25" fmla="*/ 4 h 159"/>
                  <a:gd name="T26" fmla="*/ 0 w 112"/>
                  <a:gd name="T27" fmla="*/ 44 h 159"/>
                  <a:gd name="T28" fmla="*/ 0 w 112"/>
                  <a:gd name="T29" fmla="*/ 44 h 159"/>
                  <a:gd name="T30" fmla="*/ 0 w 112"/>
                  <a:gd name="T31" fmla="*/ 45 h 159"/>
                  <a:gd name="T32" fmla="*/ 2 w 112"/>
                  <a:gd name="T33" fmla="*/ 48 h 159"/>
                  <a:gd name="T34" fmla="*/ 9 w 112"/>
                  <a:gd name="T35" fmla="*/ 61 h 159"/>
                  <a:gd name="T36" fmla="*/ 29 w 112"/>
                  <a:gd name="T37" fmla="*/ 72 h 159"/>
                  <a:gd name="T38" fmla="*/ 29 w 112"/>
                  <a:gd name="T39" fmla="*/ 84 h 159"/>
                  <a:gd name="T40" fmla="*/ 34 w 112"/>
                  <a:gd name="T41" fmla="*/ 159 h 159"/>
                  <a:gd name="T42" fmla="*/ 55 w 112"/>
                  <a:gd name="T43" fmla="*/ 84 h 159"/>
                  <a:gd name="T44" fmla="*/ 60 w 112"/>
                  <a:gd name="T45" fmla="*/ 159 h 159"/>
                  <a:gd name="T46" fmla="*/ 67 w 112"/>
                  <a:gd name="T47" fmla="*/ 145 h 159"/>
                  <a:gd name="T48" fmla="*/ 76 w 112"/>
                  <a:gd name="T49" fmla="*/ 59 h 159"/>
                  <a:gd name="T50" fmla="*/ 110 w 112"/>
                  <a:gd name="T51" fmla="*/ 41 h 159"/>
                  <a:gd name="T52" fmla="*/ 112 w 112"/>
                  <a:gd name="T53" fmla="*/ 24 h 159"/>
                  <a:gd name="T54" fmla="*/ 27 w 112"/>
                  <a:gd name="T55" fmla="*/ 51 h 159"/>
                  <a:gd name="T56" fmla="*/ 21 w 112"/>
                  <a:gd name="T57" fmla="*/ 40 h 159"/>
                  <a:gd name="T58" fmla="*/ 30 w 112"/>
                  <a:gd name="T59" fmla="*/ 55 h 159"/>
                  <a:gd name="T60" fmla="*/ 68 w 112"/>
                  <a:gd name="T61" fmla="*/ 39 h 159"/>
                  <a:gd name="T62" fmla="*/ 82 w 112"/>
                  <a:gd name="T63" fmla="*/ 25 h 159"/>
                  <a:gd name="T64" fmla="*/ 88 w 112"/>
                  <a:gd name="T6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59">
                    <a:moveTo>
                      <a:pt x="112" y="24"/>
                    </a:moveTo>
                    <a:cubicBezTo>
                      <a:pt x="111" y="23"/>
                      <a:pt x="111" y="23"/>
                      <a:pt x="111" y="23"/>
                    </a:cubicBezTo>
                    <a:cubicBezTo>
                      <a:pt x="110" y="22"/>
                      <a:pt x="110" y="22"/>
                      <a:pt x="110" y="22"/>
                    </a:cubicBezTo>
                    <a:cubicBezTo>
                      <a:pt x="106" y="19"/>
                      <a:pt x="106" y="19"/>
                      <a:pt x="106" y="19"/>
                    </a:cubicBezTo>
                    <a:cubicBezTo>
                      <a:pt x="98" y="13"/>
                      <a:pt x="98" y="13"/>
                      <a:pt x="98" y="13"/>
                    </a:cubicBezTo>
                    <a:cubicBezTo>
                      <a:pt x="83" y="2"/>
                      <a:pt x="83" y="2"/>
                      <a:pt x="83" y="2"/>
                    </a:cubicBezTo>
                    <a:cubicBezTo>
                      <a:pt x="81" y="1"/>
                      <a:pt x="80" y="0"/>
                      <a:pt x="78" y="0"/>
                    </a:cubicBezTo>
                    <a:cubicBezTo>
                      <a:pt x="78" y="0"/>
                      <a:pt x="78" y="0"/>
                      <a:pt x="77" y="0"/>
                    </a:cubicBezTo>
                    <a:cubicBezTo>
                      <a:pt x="75" y="0"/>
                      <a:pt x="72" y="0"/>
                      <a:pt x="70" y="0"/>
                    </a:cubicBezTo>
                    <a:cubicBezTo>
                      <a:pt x="70" y="0"/>
                      <a:pt x="70" y="0"/>
                      <a:pt x="70" y="0"/>
                    </a:cubicBezTo>
                    <a:cubicBezTo>
                      <a:pt x="76" y="5"/>
                      <a:pt x="76" y="5"/>
                      <a:pt x="76" y="5"/>
                    </a:cubicBezTo>
                    <a:cubicBezTo>
                      <a:pt x="68" y="10"/>
                      <a:pt x="68" y="10"/>
                      <a:pt x="68" y="10"/>
                    </a:cubicBezTo>
                    <a:cubicBezTo>
                      <a:pt x="72" y="16"/>
                      <a:pt x="72" y="16"/>
                      <a:pt x="72" y="16"/>
                    </a:cubicBezTo>
                    <a:cubicBezTo>
                      <a:pt x="56" y="50"/>
                      <a:pt x="56" y="50"/>
                      <a:pt x="56" y="50"/>
                    </a:cubicBezTo>
                    <a:cubicBezTo>
                      <a:pt x="57" y="51"/>
                      <a:pt x="57" y="51"/>
                      <a:pt x="57" y="51"/>
                    </a:cubicBezTo>
                    <a:cubicBezTo>
                      <a:pt x="56" y="51"/>
                      <a:pt x="56" y="51"/>
                      <a:pt x="56" y="51"/>
                    </a:cubicBezTo>
                    <a:cubicBezTo>
                      <a:pt x="56" y="51"/>
                      <a:pt x="56" y="51"/>
                      <a:pt x="56" y="51"/>
                    </a:cubicBezTo>
                    <a:cubicBezTo>
                      <a:pt x="56" y="50"/>
                      <a:pt x="56" y="50"/>
                      <a:pt x="56" y="50"/>
                    </a:cubicBezTo>
                    <a:cubicBezTo>
                      <a:pt x="41" y="16"/>
                      <a:pt x="41" y="16"/>
                      <a:pt x="41" y="16"/>
                    </a:cubicBezTo>
                    <a:cubicBezTo>
                      <a:pt x="45" y="10"/>
                      <a:pt x="45" y="10"/>
                      <a:pt x="45" y="10"/>
                    </a:cubicBezTo>
                    <a:cubicBezTo>
                      <a:pt x="36" y="5"/>
                      <a:pt x="36" y="5"/>
                      <a:pt x="36" y="5"/>
                    </a:cubicBezTo>
                    <a:cubicBezTo>
                      <a:pt x="43" y="0"/>
                      <a:pt x="43" y="0"/>
                      <a:pt x="43" y="0"/>
                    </a:cubicBezTo>
                    <a:cubicBezTo>
                      <a:pt x="43" y="0"/>
                      <a:pt x="43" y="0"/>
                      <a:pt x="43" y="0"/>
                    </a:cubicBezTo>
                    <a:cubicBezTo>
                      <a:pt x="41" y="0"/>
                      <a:pt x="38" y="0"/>
                      <a:pt x="35" y="0"/>
                    </a:cubicBezTo>
                    <a:cubicBezTo>
                      <a:pt x="35" y="0"/>
                      <a:pt x="35" y="0"/>
                      <a:pt x="35" y="0"/>
                    </a:cubicBezTo>
                    <a:cubicBezTo>
                      <a:pt x="32" y="1"/>
                      <a:pt x="30" y="2"/>
                      <a:pt x="28" y="4"/>
                    </a:cubicBezTo>
                    <a:cubicBezTo>
                      <a:pt x="1" y="32"/>
                      <a:pt x="1" y="32"/>
                      <a:pt x="1" y="32"/>
                    </a:cubicBezTo>
                    <a:cubicBezTo>
                      <a:pt x="0" y="44"/>
                      <a:pt x="0" y="44"/>
                      <a:pt x="0" y="44"/>
                    </a:cubicBezTo>
                    <a:cubicBezTo>
                      <a:pt x="0" y="44"/>
                      <a:pt x="0" y="44"/>
                      <a:pt x="0" y="44"/>
                    </a:cubicBezTo>
                    <a:cubicBezTo>
                      <a:pt x="0" y="44"/>
                      <a:pt x="0" y="44"/>
                      <a:pt x="0" y="44"/>
                    </a:cubicBezTo>
                    <a:cubicBezTo>
                      <a:pt x="0" y="44"/>
                      <a:pt x="0" y="44"/>
                      <a:pt x="0" y="44"/>
                    </a:cubicBezTo>
                    <a:cubicBezTo>
                      <a:pt x="0" y="45"/>
                      <a:pt x="0" y="45"/>
                      <a:pt x="0" y="45"/>
                    </a:cubicBezTo>
                    <a:cubicBezTo>
                      <a:pt x="1" y="46"/>
                      <a:pt x="1" y="46"/>
                      <a:pt x="1" y="46"/>
                    </a:cubicBezTo>
                    <a:cubicBezTo>
                      <a:pt x="2" y="48"/>
                      <a:pt x="2" y="48"/>
                      <a:pt x="2" y="48"/>
                    </a:cubicBezTo>
                    <a:cubicBezTo>
                      <a:pt x="4" y="52"/>
                      <a:pt x="4" y="52"/>
                      <a:pt x="4" y="52"/>
                    </a:cubicBezTo>
                    <a:cubicBezTo>
                      <a:pt x="9" y="61"/>
                      <a:pt x="9" y="61"/>
                      <a:pt x="9" y="61"/>
                    </a:cubicBezTo>
                    <a:cubicBezTo>
                      <a:pt x="18" y="78"/>
                      <a:pt x="18" y="78"/>
                      <a:pt x="18" y="78"/>
                    </a:cubicBezTo>
                    <a:cubicBezTo>
                      <a:pt x="22" y="76"/>
                      <a:pt x="26" y="74"/>
                      <a:pt x="29" y="72"/>
                    </a:cubicBezTo>
                    <a:cubicBezTo>
                      <a:pt x="29" y="76"/>
                      <a:pt x="29" y="80"/>
                      <a:pt x="29" y="83"/>
                    </a:cubicBezTo>
                    <a:cubicBezTo>
                      <a:pt x="29" y="83"/>
                      <a:pt x="29" y="84"/>
                      <a:pt x="29" y="84"/>
                    </a:cubicBezTo>
                    <a:cubicBezTo>
                      <a:pt x="30" y="84"/>
                      <a:pt x="31" y="84"/>
                      <a:pt x="31" y="84"/>
                    </a:cubicBezTo>
                    <a:cubicBezTo>
                      <a:pt x="34" y="159"/>
                      <a:pt x="34" y="159"/>
                      <a:pt x="34" y="159"/>
                    </a:cubicBezTo>
                    <a:cubicBezTo>
                      <a:pt x="55" y="159"/>
                      <a:pt x="55" y="159"/>
                      <a:pt x="55" y="159"/>
                    </a:cubicBezTo>
                    <a:cubicBezTo>
                      <a:pt x="56" y="137"/>
                      <a:pt x="56" y="99"/>
                      <a:pt x="55" y="84"/>
                    </a:cubicBezTo>
                    <a:cubicBezTo>
                      <a:pt x="56" y="84"/>
                      <a:pt x="57" y="84"/>
                      <a:pt x="58" y="84"/>
                    </a:cubicBezTo>
                    <a:cubicBezTo>
                      <a:pt x="60" y="159"/>
                      <a:pt x="60" y="159"/>
                      <a:pt x="60" y="159"/>
                    </a:cubicBezTo>
                    <a:cubicBezTo>
                      <a:pt x="74" y="159"/>
                      <a:pt x="74" y="159"/>
                      <a:pt x="74" y="159"/>
                    </a:cubicBezTo>
                    <a:cubicBezTo>
                      <a:pt x="70" y="156"/>
                      <a:pt x="67" y="151"/>
                      <a:pt x="67" y="145"/>
                    </a:cubicBezTo>
                    <a:cubicBezTo>
                      <a:pt x="67" y="75"/>
                      <a:pt x="67" y="75"/>
                      <a:pt x="67" y="75"/>
                    </a:cubicBezTo>
                    <a:cubicBezTo>
                      <a:pt x="67" y="68"/>
                      <a:pt x="71" y="62"/>
                      <a:pt x="76" y="59"/>
                    </a:cubicBezTo>
                    <a:cubicBezTo>
                      <a:pt x="77" y="60"/>
                      <a:pt x="78" y="61"/>
                      <a:pt x="78" y="62"/>
                    </a:cubicBezTo>
                    <a:cubicBezTo>
                      <a:pt x="110" y="41"/>
                      <a:pt x="110" y="41"/>
                      <a:pt x="110" y="41"/>
                    </a:cubicBezTo>
                    <a:cubicBezTo>
                      <a:pt x="111" y="40"/>
                      <a:pt x="111" y="40"/>
                      <a:pt x="111" y="40"/>
                    </a:cubicBezTo>
                    <a:lnTo>
                      <a:pt x="112" y="24"/>
                    </a:lnTo>
                    <a:close/>
                    <a:moveTo>
                      <a:pt x="30" y="55"/>
                    </a:moveTo>
                    <a:cubicBezTo>
                      <a:pt x="27" y="51"/>
                      <a:pt x="27" y="51"/>
                      <a:pt x="27" y="51"/>
                    </a:cubicBezTo>
                    <a:cubicBezTo>
                      <a:pt x="22" y="43"/>
                      <a:pt x="22" y="43"/>
                      <a:pt x="22" y="43"/>
                    </a:cubicBezTo>
                    <a:cubicBezTo>
                      <a:pt x="21" y="40"/>
                      <a:pt x="21" y="40"/>
                      <a:pt x="21" y="40"/>
                    </a:cubicBezTo>
                    <a:cubicBezTo>
                      <a:pt x="31" y="28"/>
                      <a:pt x="31" y="28"/>
                      <a:pt x="31" y="28"/>
                    </a:cubicBezTo>
                    <a:cubicBezTo>
                      <a:pt x="30" y="37"/>
                      <a:pt x="30" y="46"/>
                      <a:pt x="30" y="55"/>
                    </a:cubicBezTo>
                    <a:close/>
                    <a:moveTo>
                      <a:pt x="70" y="41"/>
                    </a:moveTo>
                    <a:cubicBezTo>
                      <a:pt x="68" y="39"/>
                      <a:pt x="68" y="39"/>
                      <a:pt x="68" y="39"/>
                    </a:cubicBezTo>
                    <a:cubicBezTo>
                      <a:pt x="82" y="30"/>
                      <a:pt x="82" y="30"/>
                      <a:pt x="82" y="30"/>
                    </a:cubicBezTo>
                    <a:cubicBezTo>
                      <a:pt x="82" y="28"/>
                      <a:pt x="82" y="27"/>
                      <a:pt x="82" y="25"/>
                    </a:cubicBezTo>
                    <a:cubicBezTo>
                      <a:pt x="86" y="28"/>
                      <a:pt x="86" y="28"/>
                      <a:pt x="86" y="28"/>
                    </a:cubicBezTo>
                    <a:cubicBezTo>
                      <a:pt x="88" y="30"/>
                      <a:pt x="88" y="30"/>
                      <a:pt x="88" y="30"/>
                    </a:cubicBezTo>
                    <a:lnTo>
                      <a:pt x="70"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52" name="Freeform 217"/>
              <p:cNvSpPr/>
              <p:nvPr/>
            </p:nvSpPr>
            <p:spPr bwMode="auto">
              <a:xfrm>
                <a:off x="5946775" y="3201988"/>
                <a:ext cx="42863" cy="44450"/>
              </a:xfrm>
              <a:custGeom>
                <a:avLst/>
                <a:gdLst>
                  <a:gd name="T0" fmla="*/ 22 w 27"/>
                  <a:gd name="T1" fmla="*/ 0 h 28"/>
                  <a:gd name="T2" fmla="*/ 27 w 27"/>
                  <a:gd name="T3" fmla="*/ 16 h 28"/>
                  <a:gd name="T4" fmla="*/ 12 w 27"/>
                  <a:gd name="T5" fmla="*/ 28 h 28"/>
                  <a:gd name="T6" fmla="*/ 0 w 27"/>
                  <a:gd name="T7" fmla="*/ 16 h 28"/>
                  <a:gd name="T8" fmla="*/ 5 w 27"/>
                  <a:gd name="T9" fmla="*/ 0 h 28"/>
                  <a:gd name="T10" fmla="*/ 22 w 27"/>
                  <a:gd name="T11" fmla="*/ 0 h 28"/>
                </a:gdLst>
                <a:ahLst/>
                <a:cxnLst>
                  <a:cxn ang="0">
                    <a:pos x="T0" y="T1"/>
                  </a:cxn>
                  <a:cxn ang="0">
                    <a:pos x="T2" y="T3"/>
                  </a:cxn>
                  <a:cxn ang="0">
                    <a:pos x="T4" y="T5"/>
                  </a:cxn>
                  <a:cxn ang="0">
                    <a:pos x="T6" y="T7"/>
                  </a:cxn>
                  <a:cxn ang="0">
                    <a:pos x="T8" y="T9"/>
                  </a:cxn>
                  <a:cxn ang="0">
                    <a:pos x="T10" y="T11"/>
                  </a:cxn>
                </a:cxnLst>
                <a:rect l="0" t="0" r="r" b="b"/>
                <a:pathLst>
                  <a:path w="27" h="28">
                    <a:moveTo>
                      <a:pt x="22" y="0"/>
                    </a:moveTo>
                    <a:lnTo>
                      <a:pt x="27" y="16"/>
                    </a:lnTo>
                    <a:lnTo>
                      <a:pt x="12" y="28"/>
                    </a:lnTo>
                    <a:lnTo>
                      <a:pt x="0" y="16"/>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53" name="Freeform 218"/>
              <p:cNvSpPr/>
              <p:nvPr/>
            </p:nvSpPr>
            <p:spPr bwMode="auto">
              <a:xfrm>
                <a:off x="5946775" y="3232150"/>
                <a:ext cx="42863" cy="185738"/>
              </a:xfrm>
              <a:custGeom>
                <a:avLst/>
                <a:gdLst>
                  <a:gd name="T0" fmla="*/ 22 w 27"/>
                  <a:gd name="T1" fmla="*/ 0 h 117"/>
                  <a:gd name="T2" fmla="*/ 27 w 27"/>
                  <a:gd name="T3" fmla="*/ 105 h 117"/>
                  <a:gd name="T4" fmla="*/ 12 w 27"/>
                  <a:gd name="T5" fmla="*/ 117 h 117"/>
                  <a:gd name="T6" fmla="*/ 0 w 27"/>
                  <a:gd name="T7" fmla="*/ 105 h 117"/>
                  <a:gd name="T8" fmla="*/ 5 w 27"/>
                  <a:gd name="T9" fmla="*/ 0 h 117"/>
                  <a:gd name="T10" fmla="*/ 22 w 27"/>
                  <a:gd name="T11" fmla="*/ 0 h 117"/>
                </a:gdLst>
                <a:ahLst/>
                <a:cxnLst>
                  <a:cxn ang="0">
                    <a:pos x="T0" y="T1"/>
                  </a:cxn>
                  <a:cxn ang="0">
                    <a:pos x="T2" y="T3"/>
                  </a:cxn>
                  <a:cxn ang="0">
                    <a:pos x="T4" y="T5"/>
                  </a:cxn>
                  <a:cxn ang="0">
                    <a:pos x="T6" y="T7"/>
                  </a:cxn>
                  <a:cxn ang="0">
                    <a:pos x="T8" y="T9"/>
                  </a:cxn>
                  <a:cxn ang="0">
                    <a:pos x="T10" y="T11"/>
                  </a:cxn>
                </a:cxnLst>
                <a:rect l="0" t="0" r="r" b="b"/>
                <a:pathLst>
                  <a:path w="27" h="117">
                    <a:moveTo>
                      <a:pt x="22" y="0"/>
                    </a:moveTo>
                    <a:lnTo>
                      <a:pt x="27" y="105"/>
                    </a:lnTo>
                    <a:lnTo>
                      <a:pt x="12" y="117"/>
                    </a:lnTo>
                    <a:lnTo>
                      <a:pt x="0" y="105"/>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pic>
        <p:nvPicPr>
          <p:cNvPr id="2" name="内容占位符 5">
            <a:extLst>
              <a:ext uri="{FF2B5EF4-FFF2-40B4-BE49-F238E27FC236}">
                <a16:creationId xmlns:a16="http://schemas.microsoft.com/office/drawing/2014/main" id="{4D6FA5FD-5765-550C-81E7-4E059F703E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086225" cy="106241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4BBC9-52E5-9E93-6173-72484CC2B7AB}"/>
            </a:ext>
          </a:extLst>
        </p:cNvPr>
        <p:cNvGrpSpPr/>
        <p:nvPr/>
      </p:nvGrpSpPr>
      <p:grpSpPr>
        <a:xfrm>
          <a:off x="0" y="0"/>
          <a:ext cx="0" cy="0"/>
          <a:chOff x="0" y="0"/>
          <a:chExt cx="0" cy="0"/>
        </a:xfrm>
      </p:grpSpPr>
      <p:pic>
        <p:nvPicPr>
          <p:cNvPr id="5" name="内容占位符 5">
            <a:extLst>
              <a:ext uri="{FF2B5EF4-FFF2-40B4-BE49-F238E27FC236}">
                <a16:creationId xmlns:a16="http://schemas.microsoft.com/office/drawing/2014/main" id="{3AF82F79-D0CD-A5B2-A677-2F58E29B87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4086225" cy="1062419"/>
          </a:xfrm>
          <a:prstGeom prst="rect">
            <a:avLst/>
          </a:prstGeom>
        </p:spPr>
      </p:pic>
      <p:sp>
        <p:nvSpPr>
          <p:cNvPr id="6" name="文本框 5">
            <a:extLst>
              <a:ext uri="{FF2B5EF4-FFF2-40B4-BE49-F238E27FC236}">
                <a16:creationId xmlns:a16="http://schemas.microsoft.com/office/drawing/2014/main" id="{169CFAF5-D190-B12E-A475-626CCB4A18DE}"/>
              </a:ext>
            </a:extLst>
          </p:cNvPr>
          <p:cNvSpPr txBox="1"/>
          <p:nvPr/>
        </p:nvSpPr>
        <p:spPr>
          <a:xfrm>
            <a:off x="457199" y="1876424"/>
            <a:ext cx="3276601" cy="707886"/>
          </a:xfrm>
          <a:prstGeom prst="rect">
            <a:avLst/>
          </a:prstGeom>
          <a:noFill/>
        </p:spPr>
        <p:txBody>
          <a:bodyPr wrap="square" rtlCol="0">
            <a:spAutoFit/>
          </a:bodyPr>
          <a:lstStyle/>
          <a:p>
            <a:r>
              <a:rPr lang="en-US" altLang="zh-CN" sz="4000" dirty="0"/>
              <a:t>Q&amp;A</a:t>
            </a:r>
            <a:endParaRPr lang="zh-CN" altLang="en-US" sz="4000" dirty="0"/>
          </a:p>
        </p:txBody>
      </p:sp>
      <p:sp>
        <p:nvSpPr>
          <p:cNvPr id="3" name="文本框 2">
            <a:extLst>
              <a:ext uri="{FF2B5EF4-FFF2-40B4-BE49-F238E27FC236}">
                <a16:creationId xmlns:a16="http://schemas.microsoft.com/office/drawing/2014/main" id="{BF062DF1-B9E0-0C30-AE83-279FB4916967}"/>
              </a:ext>
            </a:extLst>
          </p:cNvPr>
          <p:cNvSpPr txBox="1"/>
          <p:nvPr/>
        </p:nvSpPr>
        <p:spPr>
          <a:xfrm>
            <a:off x="2666999" y="1118050"/>
            <a:ext cx="7477125" cy="369332"/>
          </a:xfrm>
          <a:prstGeom prst="rect">
            <a:avLst/>
          </a:prstGeom>
          <a:noFill/>
        </p:spPr>
        <p:txBody>
          <a:bodyPr wrap="square">
            <a:spAutoFit/>
          </a:bodyPr>
          <a:lstStyle/>
          <a:p>
            <a:pPr algn="just"/>
            <a:r>
              <a:rPr lang="en-US" altLang="zh-CN" dirty="0"/>
              <a:t>Q: </a:t>
            </a:r>
            <a:r>
              <a:rPr lang="zh-CN" altLang="en-US" dirty="0"/>
              <a:t>What are the core innovations and valuable highlights in your </a:t>
            </a:r>
            <a:r>
              <a:rPr lang="en-US" altLang="zh-CN" dirty="0"/>
              <a:t>paper</a:t>
            </a:r>
            <a:r>
              <a:rPr lang="zh-CN" altLang="en-US" dirty="0"/>
              <a:t>?</a:t>
            </a:r>
          </a:p>
        </p:txBody>
      </p:sp>
      <p:sp>
        <p:nvSpPr>
          <p:cNvPr id="7" name="文本框 6">
            <a:extLst>
              <a:ext uri="{FF2B5EF4-FFF2-40B4-BE49-F238E27FC236}">
                <a16:creationId xmlns:a16="http://schemas.microsoft.com/office/drawing/2014/main" id="{82F7DE86-A16C-289D-DDC5-705FA4B78C39}"/>
              </a:ext>
            </a:extLst>
          </p:cNvPr>
          <p:cNvSpPr txBox="1"/>
          <p:nvPr/>
        </p:nvSpPr>
        <p:spPr>
          <a:xfrm>
            <a:off x="2666998" y="1508608"/>
            <a:ext cx="7477125" cy="2031325"/>
          </a:xfrm>
          <a:prstGeom prst="rect">
            <a:avLst/>
          </a:prstGeom>
          <a:noFill/>
        </p:spPr>
        <p:txBody>
          <a:bodyPr wrap="square">
            <a:spAutoFit/>
          </a:bodyPr>
          <a:lstStyle/>
          <a:p>
            <a:pPr algn="just"/>
            <a:r>
              <a:rPr lang="en-US" altLang="zh-CN" dirty="0"/>
              <a:t>A: </a:t>
            </a:r>
            <a:r>
              <a:rPr lang="zh-CN" altLang="en-US" dirty="0"/>
              <a:t>The research topic is precisely targeted at the core pain points of unsupervised clustering. To address the problem of performance degradation of distance-based clustering methods due to semantic category overlap, the ISCST joint optimization framework is proposed, which realizes the collaborative optimization of bottom-up instance contrastive learning and top-down clustering objectives, with a complete logical loop.</a:t>
            </a:r>
          </a:p>
        </p:txBody>
      </p:sp>
      <p:sp>
        <p:nvSpPr>
          <p:cNvPr id="9" name="文本框 8">
            <a:extLst>
              <a:ext uri="{FF2B5EF4-FFF2-40B4-BE49-F238E27FC236}">
                <a16:creationId xmlns:a16="http://schemas.microsoft.com/office/drawing/2014/main" id="{48F45719-609E-91C6-85E0-243A6F5AAEB8}"/>
              </a:ext>
            </a:extLst>
          </p:cNvPr>
          <p:cNvSpPr txBox="1"/>
          <p:nvPr/>
        </p:nvSpPr>
        <p:spPr>
          <a:xfrm>
            <a:off x="2666998" y="3538417"/>
            <a:ext cx="7848600" cy="369332"/>
          </a:xfrm>
          <a:prstGeom prst="rect">
            <a:avLst/>
          </a:prstGeom>
          <a:noFill/>
        </p:spPr>
        <p:txBody>
          <a:bodyPr wrap="square">
            <a:spAutoFit/>
          </a:bodyPr>
          <a:lstStyle/>
          <a:p>
            <a:pPr algn="just"/>
            <a:r>
              <a:rPr lang="en-US" altLang="zh-CN" dirty="0"/>
              <a:t>Q: </a:t>
            </a:r>
            <a:r>
              <a:rPr lang="zh-CN" altLang="en-US" dirty="0"/>
              <a:t>Could you give a general overview of the overall content of your </a:t>
            </a:r>
            <a:r>
              <a:rPr lang="en-US" altLang="zh-CN" dirty="0"/>
              <a:t>paper</a:t>
            </a:r>
            <a:r>
              <a:rPr lang="zh-CN" altLang="en-US" dirty="0"/>
              <a:t>?</a:t>
            </a:r>
          </a:p>
        </p:txBody>
      </p:sp>
      <p:sp>
        <p:nvSpPr>
          <p:cNvPr id="11" name="文本框 10">
            <a:extLst>
              <a:ext uri="{FF2B5EF4-FFF2-40B4-BE49-F238E27FC236}">
                <a16:creationId xmlns:a16="http://schemas.microsoft.com/office/drawing/2014/main" id="{9889CD5C-5756-133E-85C8-9212CFA5FA6D}"/>
              </a:ext>
            </a:extLst>
          </p:cNvPr>
          <p:cNvSpPr txBox="1"/>
          <p:nvPr/>
        </p:nvSpPr>
        <p:spPr>
          <a:xfrm>
            <a:off x="2666998" y="3986124"/>
            <a:ext cx="8048627" cy="2862322"/>
          </a:xfrm>
          <a:prstGeom prst="rect">
            <a:avLst/>
          </a:prstGeom>
          <a:noFill/>
        </p:spPr>
        <p:txBody>
          <a:bodyPr wrap="square">
            <a:spAutoFit/>
          </a:bodyPr>
          <a:lstStyle/>
          <a:p>
            <a:pPr algn="just"/>
            <a:r>
              <a:rPr lang="en-US" altLang="zh-CN" dirty="0"/>
              <a:t>A: </a:t>
            </a:r>
            <a:r>
              <a:rPr lang="zh-CN" altLang="en-US" dirty="0"/>
              <a:t>Based on Sentence-Transformer, an end-to-end short text clustering scheme was constructed. By jointly optimizing intra-class compactness and inter-class discrimination through a combined loss function, significant improvements of 5%-8% ACC and 3%-5% NMI were achieved on 8 public benchmark datasets. The performance surpassed the existing state-of-the-art, and it has clear engineering practical value. </a:t>
            </a:r>
            <a:r>
              <a:rPr lang="en-US" altLang="zh-CN" dirty="0"/>
              <a:t>The system analyzed the impact of text enhancement strategies on short text clustering, revealed the performance limitations of combined enhancement in the short text scenario, and provided empirical references for the practical application of contrastive learning in text clustering.</a:t>
            </a:r>
            <a:endParaRPr lang="zh-CN" altLang="en-US" dirty="0"/>
          </a:p>
        </p:txBody>
      </p:sp>
    </p:spTree>
    <p:extLst>
      <p:ext uri="{BB962C8B-B14F-4D97-AF65-F5344CB8AC3E}">
        <p14:creationId xmlns:p14="http://schemas.microsoft.com/office/powerpoint/2010/main" val="209445266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4515</TotalTime>
  <Words>1502</Words>
  <Application>Microsoft Office PowerPoint</Application>
  <PresentationFormat>宽屏</PresentationFormat>
  <Paragraphs>63</Paragraphs>
  <Slides>20</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20</vt:i4>
      </vt:variant>
    </vt:vector>
  </HeadingPairs>
  <TitlesOfParts>
    <vt:vector size="25" baseType="lpstr">
      <vt:lpstr>等线</vt:lpstr>
      <vt:lpstr>等线 Light</vt:lpstr>
      <vt:lpstr>方正舒体</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1411239959@qq.com</dc:creator>
  <cp:lastModifiedBy>孔强 汪</cp:lastModifiedBy>
  <cp:revision>51</cp:revision>
  <dcterms:created xsi:type="dcterms:W3CDTF">2024-11-23T09:58:24Z</dcterms:created>
  <dcterms:modified xsi:type="dcterms:W3CDTF">2026-06-08T02:44:09Z</dcterms:modified>
</cp:coreProperties>
</file>